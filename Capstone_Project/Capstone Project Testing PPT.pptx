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70" r:id="rId9"/>
    <p:sldId id="263" r:id="rId10"/>
    <p:sldId id="264" r:id="rId11"/>
    <p:sldId id="265" r:id="rId12"/>
    <p:sldId id="267" r:id="rId13"/>
    <p:sldId id="269" r:id="rId14"/>
  </p:sldIdLst>
  <p:sldSz cx="18288000" cy="10287000"/>
  <p:notesSz cx="6858000" cy="9144000"/>
  <p:embeddedFontLst>
    <p:embeddedFont>
      <p:font typeface="Gotham" panose="020B0604020202020204" charset="0"/>
      <p:regular r:id="rId15"/>
    </p:embeddedFont>
    <p:embeddedFont>
      <p:font typeface="Times New Roman Bold" panose="02020803070505020304" pitchFamily="18" charset="0"/>
      <p:regular r:id="rId16"/>
      <p:bold r:id="rId17"/>
    </p:embeddedFont>
    <p:embeddedFont>
      <p:font typeface="Times New Roman Condensed" panose="020B0604020202020204" charset="0"/>
      <p:regular r:id="rId18"/>
    </p:embeddedFont>
    <p:embeddedFont>
      <p:font typeface="Times New Roman Condensed Italics"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49B5F-7935-1FD2-63FB-A9F4A6AE65BB}" v="1178" dt="2025-11-15T12:25:21.329"/>
    <p1510:client id="{FC87853D-C103-F263-510C-55799B127C94}" v="66" dt="2025-11-15T10:54:19.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demowebshop.tricentis.com/"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Freeform 2"/>
          <p:cNvSpPr/>
          <p:nvPr/>
        </p:nvSpPr>
        <p:spPr>
          <a:xfrm>
            <a:off x="3923500" y="-3075865"/>
            <a:ext cx="19285436" cy="15042640"/>
          </a:xfrm>
          <a:custGeom>
            <a:avLst/>
            <a:gdLst/>
            <a:ahLst/>
            <a:cxnLst/>
            <a:rect l="l" t="t" r="r" b="b"/>
            <a:pathLst>
              <a:path w="19285436" h="15042640">
                <a:moveTo>
                  <a:pt x="0" y="0"/>
                </a:moveTo>
                <a:lnTo>
                  <a:pt x="19285437" y="0"/>
                </a:lnTo>
                <a:lnTo>
                  <a:pt x="19285437" y="15042641"/>
                </a:lnTo>
                <a:lnTo>
                  <a:pt x="0" y="150426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0" y="698265"/>
            <a:ext cx="13250176" cy="1473491"/>
          </a:xfrm>
          <a:prstGeom prst="rect">
            <a:avLst/>
          </a:prstGeom>
        </p:spPr>
        <p:txBody>
          <a:bodyPr lIns="0" tIns="0" rIns="0" bIns="0" rtlCol="0" anchor="t">
            <a:spAutoFit/>
          </a:bodyPr>
          <a:lstStyle/>
          <a:p>
            <a:pPr algn="l">
              <a:lnSpc>
                <a:spcPts val="8804"/>
              </a:lnSpc>
            </a:pPr>
            <a:r>
              <a:rPr lang="en-US" sz="11005" u="sng" spc="-418">
                <a:solidFill>
                  <a:srgbClr val="383A2C"/>
                </a:solidFill>
                <a:latin typeface="Times New Roman Condensed"/>
                <a:ea typeface="Times New Roman Condensed"/>
                <a:cs typeface="Times New Roman Condensed"/>
                <a:sym typeface="Times New Roman Condensed"/>
              </a:rPr>
              <a:t>CAPSTONE  PROJECT</a:t>
            </a:r>
          </a:p>
        </p:txBody>
      </p:sp>
      <p:sp>
        <p:nvSpPr>
          <p:cNvPr id="4" name="TextBox 4"/>
          <p:cNvSpPr txBox="1"/>
          <p:nvPr/>
        </p:nvSpPr>
        <p:spPr>
          <a:xfrm>
            <a:off x="8918079" y="8039530"/>
            <a:ext cx="7283756" cy="1654299"/>
          </a:xfrm>
          <a:prstGeom prst="rect">
            <a:avLst/>
          </a:prstGeom>
        </p:spPr>
        <p:txBody>
          <a:bodyPr wrap="square" lIns="0" tIns="0" rIns="0" bIns="0" rtlCol="0" anchor="t">
            <a:spAutoFit/>
          </a:bodyPr>
          <a:lstStyle/>
          <a:p>
            <a:pPr algn="l">
              <a:lnSpc>
                <a:spcPts val="4320"/>
              </a:lnSpc>
            </a:pPr>
            <a:r>
              <a:rPr lang="en-US" sz="3600" spc="-54" dirty="0">
                <a:solidFill>
                  <a:srgbClr val="0E4714"/>
                </a:solidFill>
                <a:latin typeface="Gotham"/>
                <a:ea typeface="Gotham"/>
                <a:cs typeface="Gotham"/>
                <a:sym typeface="Gotham"/>
              </a:rPr>
              <a:t>REDDI SANDEEP KUMAR,</a:t>
            </a:r>
          </a:p>
          <a:p>
            <a:pPr>
              <a:lnSpc>
                <a:spcPts val="4320"/>
              </a:lnSpc>
            </a:pPr>
            <a:r>
              <a:rPr lang="en-US" sz="3600" spc="-54" dirty="0">
                <a:solidFill>
                  <a:srgbClr val="0E4714"/>
                </a:solidFill>
                <a:latin typeface="Gotham"/>
                <a:ea typeface="Gotham"/>
                <a:cs typeface="Gotham"/>
                <a:sym typeface="Gotham"/>
              </a:rPr>
              <a:t>SENIOR ASSOCIATE ENGINEER,</a:t>
            </a:r>
            <a:endParaRPr lang="en-US" sz="3600" spc="-54" dirty="0">
              <a:solidFill>
                <a:srgbClr val="0E4714"/>
              </a:solidFill>
              <a:latin typeface="Gotham"/>
              <a:ea typeface="Gotham"/>
              <a:cs typeface="Gotham"/>
            </a:endParaRPr>
          </a:p>
          <a:p>
            <a:pPr algn="l">
              <a:lnSpc>
                <a:spcPts val="4320"/>
              </a:lnSpc>
            </a:pPr>
            <a:r>
              <a:rPr lang="en-US" sz="3600" spc="-54" dirty="0">
                <a:solidFill>
                  <a:srgbClr val="0E4714"/>
                </a:solidFill>
                <a:latin typeface="Gotham"/>
                <a:ea typeface="Gotham"/>
                <a:cs typeface="Gotham"/>
                <a:sym typeface="Gotham"/>
              </a:rPr>
              <a:t>ASCENDION</a:t>
            </a:r>
            <a:endParaRPr lang="en-US" sz="3600" spc="-54" dirty="0">
              <a:solidFill>
                <a:srgbClr val="0E4714"/>
              </a:solidFill>
              <a:latin typeface="Gotham"/>
              <a:ea typeface="Gotham"/>
              <a:cs typeface="Gotham"/>
            </a:endParaRPr>
          </a:p>
        </p:txBody>
      </p:sp>
      <p:sp>
        <p:nvSpPr>
          <p:cNvPr id="5" name="TextBox 5"/>
          <p:cNvSpPr txBox="1"/>
          <p:nvPr/>
        </p:nvSpPr>
        <p:spPr>
          <a:xfrm>
            <a:off x="1025071" y="2844948"/>
            <a:ext cx="16230600" cy="4181081"/>
          </a:xfrm>
          <a:prstGeom prst="rect">
            <a:avLst/>
          </a:prstGeom>
        </p:spPr>
        <p:txBody>
          <a:bodyPr lIns="0" tIns="0" rIns="0" bIns="0" rtlCol="0" anchor="t">
            <a:spAutoFit/>
          </a:bodyPr>
          <a:lstStyle/>
          <a:p>
            <a:pPr>
              <a:lnSpc>
                <a:spcPts val="8102"/>
              </a:lnSpc>
            </a:pPr>
            <a:r>
              <a:rPr lang="en-US" sz="9600" spc="-384" dirty="0">
                <a:solidFill>
                  <a:srgbClr val="0E4714"/>
                </a:solidFill>
                <a:ea typeface="+mn-lt"/>
                <a:cs typeface="+mn-lt"/>
                <a:sym typeface="Times New Roman Condensed"/>
              </a:rPr>
              <a:t>End-to-End</a:t>
            </a:r>
            <a:r>
              <a:rPr lang="en-US" sz="9600" spc="-384">
                <a:solidFill>
                  <a:srgbClr val="0E4714"/>
                </a:solidFill>
                <a:ea typeface="+mn-lt"/>
                <a:cs typeface="+mn-lt"/>
                <a:sym typeface="Times New Roman Condensed"/>
              </a:rPr>
              <a:t> </a:t>
            </a:r>
            <a:r>
              <a:rPr lang="en-US" sz="9600" spc="-384" dirty="0">
                <a:solidFill>
                  <a:srgbClr val="0E4714"/>
                </a:solidFill>
                <a:ea typeface="+mn-lt"/>
                <a:cs typeface="+mn-lt"/>
                <a:sym typeface="Times New Roman Condensed"/>
              </a:rPr>
              <a:t>Automation Testing</a:t>
            </a:r>
            <a:r>
              <a:rPr lang="en-US" sz="9600" spc="-384">
                <a:solidFill>
                  <a:srgbClr val="0E4714"/>
                </a:solidFill>
                <a:ea typeface="+mn-lt"/>
                <a:cs typeface="+mn-lt"/>
                <a:sym typeface="Times New Roman Condensed"/>
              </a:rPr>
              <a:t> &amp; Agile Development</a:t>
            </a:r>
            <a:endParaRPr lang="en-US" sz="10100" spc="-384" dirty="0">
              <a:solidFill>
                <a:srgbClr val="0E4714"/>
              </a:solidFill>
              <a:latin typeface="Times New Roman Condensed"/>
              <a:ea typeface="+mn-lt"/>
              <a:cs typeface="+mn-lt"/>
              <a:sym typeface="Times New Roman Condensed"/>
            </a:endParaRPr>
          </a:p>
          <a:p>
            <a:pPr>
              <a:lnSpc>
                <a:spcPts val="8102"/>
              </a:lnSpc>
            </a:pPr>
            <a:endParaRPr lang="en-US" sz="10100" spc="-384" dirty="0">
              <a:solidFill>
                <a:srgbClr val="0E4714"/>
              </a:solidFill>
              <a:latin typeface="Times New Roman Condensed"/>
              <a:ea typeface="+mn-lt"/>
              <a:cs typeface="+mn-lt"/>
              <a:sym typeface="Times New Roman Condensed"/>
            </a:endParaRPr>
          </a:p>
          <a:p>
            <a:pPr>
              <a:lnSpc>
                <a:spcPts val="8102"/>
              </a:lnSpc>
            </a:pPr>
            <a:r>
              <a:rPr lang="en-US" sz="8000" spc="-384">
                <a:solidFill>
                  <a:srgbClr val="0E4714"/>
                </a:solidFill>
                <a:ea typeface="+mn-lt"/>
                <a:cs typeface="+mn-lt"/>
                <a:sym typeface="Times New Roman Condensed"/>
              </a:rPr>
              <a:t>| Python | SQL | Appium | CI/CD</a:t>
            </a:r>
            <a:endParaRPr lang="en-US" sz="8000" spc="-384">
              <a:solidFill>
                <a:srgbClr val="0E4714"/>
              </a:solidFill>
              <a:latin typeface="Times New Roman Condensed"/>
              <a:ea typeface="Times New Roman Condensed"/>
              <a:cs typeface="Times New Roman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TextBox 2"/>
          <p:cNvSpPr txBox="1"/>
          <p:nvPr/>
        </p:nvSpPr>
        <p:spPr>
          <a:xfrm>
            <a:off x="687359" y="2266085"/>
            <a:ext cx="16913283" cy="8597995"/>
          </a:xfrm>
          <a:prstGeom prst="rect">
            <a:avLst/>
          </a:prstGeom>
        </p:spPr>
        <p:txBody>
          <a:bodyPr lIns="0" tIns="0" rIns="0" bIns="0" rtlCol="0" anchor="t">
            <a:spAutoFit/>
          </a:bodyPr>
          <a:lstStyle/>
          <a:p>
            <a:pPr marL="285750" indent="-285750" algn="just">
              <a:buFont typeface="Arial"/>
              <a:buChar char="•"/>
            </a:pPr>
            <a:r>
              <a:rPr lang="en-US" sz="3950" spc="7" dirty="0">
                <a:solidFill>
                  <a:srgbClr val="000000"/>
                </a:solidFill>
                <a:ea typeface="+mn-lt"/>
                <a:cs typeface="+mn-lt"/>
                <a:sym typeface="Times New Roman"/>
              </a:rPr>
              <a:t>Full-stack QA + development project</a:t>
            </a:r>
            <a:endParaRPr lang="en-US" dirty="0">
              <a:sym typeface="Times New Roman"/>
            </a:endParaRPr>
          </a:p>
          <a:p>
            <a:pPr marL="285750" indent="-285750" algn="just">
              <a:buFont typeface="Arial"/>
              <a:buChar char="•"/>
            </a:pPr>
            <a:r>
              <a:rPr lang="en-US" sz="3950" spc="7" dirty="0">
                <a:solidFill>
                  <a:srgbClr val="000000"/>
                </a:solidFill>
                <a:ea typeface="+mn-lt"/>
                <a:cs typeface="+mn-lt"/>
                <a:sym typeface="Times New Roman"/>
              </a:rPr>
              <a:t>Covered </a:t>
            </a:r>
            <a:r>
              <a:rPr lang="en-US" sz="3950" b="1" spc="7" dirty="0">
                <a:solidFill>
                  <a:srgbClr val="000000"/>
                </a:solidFill>
                <a:ea typeface="+mn-lt"/>
                <a:cs typeface="+mn-lt"/>
                <a:sym typeface="Times New Roman"/>
              </a:rPr>
              <a:t>Manual Testing with JIRA, Automation Testing (</a:t>
            </a:r>
            <a:r>
              <a:rPr lang="en-US" sz="3950" spc="7" dirty="0">
                <a:solidFill>
                  <a:srgbClr val="000000"/>
                </a:solidFill>
                <a:ea typeface="+mn-lt"/>
                <a:cs typeface="+mn-lt"/>
                <a:sym typeface="Times New Roman"/>
              </a:rPr>
              <a:t>using Selenium + Python + </a:t>
            </a:r>
            <a:r>
              <a:rPr lang="en-US" sz="3950" spc="7" dirty="0" err="1">
                <a:solidFill>
                  <a:srgbClr val="000000"/>
                </a:solidFill>
                <a:ea typeface="+mn-lt"/>
                <a:cs typeface="+mn-lt"/>
                <a:sym typeface="Times New Roman"/>
              </a:rPr>
              <a:t>Pytest</a:t>
            </a:r>
            <a:r>
              <a:rPr lang="en-US" sz="3950" spc="7" dirty="0">
                <a:solidFill>
                  <a:srgbClr val="000000"/>
                </a:solidFill>
                <a:ea typeface="+mn-lt"/>
                <a:cs typeface="+mn-lt"/>
                <a:sym typeface="Times New Roman"/>
              </a:rPr>
              <a:t>)</a:t>
            </a:r>
            <a:r>
              <a:rPr lang="en-US" sz="3950" b="1" spc="7" dirty="0">
                <a:solidFill>
                  <a:srgbClr val="000000"/>
                </a:solidFill>
                <a:ea typeface="+mn-lt"/>
                <a:cs typeface="+mn-lt"/>
                <a:sym typeface="Times New Roman"/>
              </a:rPr>
              <a:t>, SQL, Python OOP, Appium, CI/CD</a:t>
            </a:r>
            <a:endParaRPr lang="en-US" dirty="0">
              <a:sym typeface="Times New Roman"/>
            </a:endParaRPr>
          </a:p>
          <a:p>
            <a:pPr marL="285750" indent="-285750" algn="just">
              <a:buFont typeface="Arial"/>
              <a:buChar char="•"/>
            </a:pPr>
            <a:endParaRPr lang="en-US" sz="3950" b="1" spc="7" dirty="0">
              <a:solidFill>
                <a:srgbClr val="000000"/>
              </a:solidFill>
              <a:ea typeface="+mn-lt"/>
              <a:cs typeface="+mn-lt"/>
              <a:sym typeface="Times New Roman"/>
            </a:endParaRPr>
          </a:p>
          <a:p>
            <a:pPr marL="285750" indent="-285750" algn="just">
              <a:buFont typeface="Arial"/>
              <a:buChar char="•"/>
            </a:pPr>
            <a:r>
              <a:rPr lang="en-US" sz="3950" spc="7" dirty="0">
                <a:solidFill>
                  <a:srgbClr val="000000"/>
                </a:solidFill>
                <a:ea typeface="+mn-lt"/>
                <a:cs typeface="+mn-lt"/>
                <a:sym typeface="Times New Roman"/>
              </a:rPr>
              <a:t>Implemented on:</a:t>
            </a:r>
            <a:endParaRPr lang="en-US" dirty="0">
              <a:sym typeface="Times New Roman"/>
            </a:endParaRPr>
          </a:p>
          <a:p>
            <a:pPr marL="285750" indent="-285750" algn="just">
              <a:buFont typeface="Arial"/>
              <a:buChar char="•"/>
            </a:pPr>
            <a:r>
              <a:rPr lang="en-US" sz="3950" spc="7" dirty="0">
                <a:solidFill>
                  <a:srgbClr val="000000"/>
                </a:solidFill>
                <a:ea typeface="+mn-lt"/>
                <a:cs typeface="+mn-lt"/>
                <a:sym typeface="Times New Roman"/>
              </a:rPr>
              <a:t> Live e-commerce website: </a:t>
            </a:r>
            <a:r>
              <a:rPr lang="en-US" sz="3950" b="1" spc="7" dirty="0">
                <a:solidFill>
                  <a:srgbClr val="000000"/>
                </a:solidFill>
                <a:ea typeface="+mn-lt"/>
                <a:cs typeface="+mn-lt"/>
                <a:sym typeface="Times New Roman"/>
              </a:rPr>
              <a:t>demowebshop.tricentis.com</a:t>
            </a:r>
            <a:endParaRPr lang="en-US" dirty="0">
              <a:sym typeface="Times New Roman"/>
            </a:endParaRPr>
          </a:p>
          <a:p>
            <a:pPr marL="285750" indent="-285750" algn="just">
              <a:buFont typeface="Arial"/>
              <a:buChar char="•"/>
            </a:pPr>
            <a:r>
              <a:rPr lang="en-US" sz="3950" spc="7" dirty="0">
                <a:solidFill>
                  <a:srgbClr val="000000"/>
                </a:solidFill>
                <a:ea typeface="+mn-lt"/>
                <a:cs typeface="+mn-lt"/>
                <a:sym typeface="Times New Roman"/>
              </a:rPr>
              <a:t> Android app: </a:t>
            </a:r>
            <a:r>
              <a:rPr lang="en-US" sz="3950" b="1" spc="7" err="1">
                <a:solidFill>
                  <a:srgbClr val="000000"/>
                </a:solidFill>
                <a:ea typeface="+mn-lt"/>
                <a:cs typeface="+mn-lt"/>
                <a:sym typeface="Times New Roman"/>
              </a:rPr>
              <a:t>KWADemo</a:t>
            </a:r>
            <a:endParaRPr lang="en-US" err="1">
              <a:sym typeface="Times New Roman"/>
            </a:endParaRPr>
          </a:p>
          <a:p>
            <a:pPr marL="285750" indent="-285750" algn="just">
              <a:buFont typeface="Arial"/>
              <a:buChar char="•"/>
            </a:pPr>
            <a:r>
              <a:rPr lang="en-US" sz="3950" spc="7" dirty="0">
                <a:solidFill>
                  <a:srgbClr val="000000"/>
                </a:solidFill>
                <a:ea typeface="+mn-lt"/>
                <a:cs typeface="+mn-lt"/>
                <a:sym typeface="Times New Roman"/>
              </a:rPr>
              <a:t> Python Banking Application (OOP)</a:t>
            </a:r>
            <a:endParaRPr lang="en-US" dirty="0">
              <a:sym typeface="Times New Roman"/>
            </a:endParaRPr>
          </a:p>
          <a:p>
            <a:pPr marL="285750" indent="-285750" algn="just">
              <a:buFont typeface="Arial"/>
              <a:buChar char="•"/>
            </a:pPr>
            <a:r>
              <a:rPr lang="en-US" sz="3950" spc="7" dirty="0">
                <a:solidFill>
                  <a:srgbClr val="000000"/>
                </a:solidFill>
                <a:ea typeface="+mn-lt"/>
                <a:cs typeface="+mn-lt"/>
                <a:sym typeface="Times New Roman"/>
              </a:rPr>
              <a:t> PostgreSQL Database Operations</a:t>
            </a:r>
            <a:endParaRPr lang="en-US" dirty="0">
              <a:sym typeface="Times New Roman"/>
            </a:endParaRPr>
          </a:p>
          <a:p>
            <a:pPr marL="285750" indent="-285750" algn="just">
              <a:buFont typeface="Arial"/>
              <a:buChar char="•"/>
            </a:pPr>
            <a:r>
              <a:rPr lang="en-US" sz="3950" spc="7" dirty="0">
                <a:solidFill>
                  <a:srgbClr val="000000"/>
                </a:solidFill>
                <a:ea typeface="+mn-lt"/>
                <a:cs typeface="+mn-lt"/>
              </a:rPr>
              <a:t>Appium Mobile Automation</a:t>
            </a:r>
            <a:endParaRPr lang="en-US" sz="3950" spc="7" dirty="0">
              <a:solidFill>
                <a:srgbClr val="000000"/>
              </a:solidFill>
              <a:ea typeface="+mn-lt"/>
              <a:cs typeface="+mn-lt"/>
              <a:sym typeface="Times New Roman"/>
            </a:endParaRPr>
          </a:p>
          <a:p>
            <a:pPr marL="285750" indent="-285750" algn="just">
              <a:buFont typeface="Arial"/>
              <a:buChar char="•"/>
            </a:pPr>
            <a:r>
              <a:rPr lang="en-US" sz="3950" spc="7" dirty="0">
                <a:solidFill>
                  <a:srgbClr val="000000"/>
                </a:solidFill>
                <a:ea typeface="+mn-lt"/>
                <a:cs typeface="+mn-lt"/>
              </a:rPr>
              <a:t>GitHub + GitHub Actions CI/CD</a:t>
            </a:r>
            <a:endParaRPr lang="en-US" sz="3950" spc="7" dirty="0">
              <a:solidFill>
                <a:srgbClr val="000000"/>
              </a:solidFill>
              <a:ea typeface="+mn-lt"/>
              <a:cs typeface="+mn-lt"/>
              <a:sym typeface="Times New Roman"/>
            </a:endParaRPr>
          </a:p>
          <a:p>
            <a:pPr marL="285750" indent="-285750" algn="just">
              <a:buFont typeface="Arial"/>
              <a:buChar char="•"/>
            </a:pPr>
            <a:r>
              <a:rPr lang="en-US" sz="3950" spc="7" dirty="0">
                <a:solidFill>
                  <a:srgbClr val="000000"/>
                </a:solidFill>
                <a:ea typeface="+mn-lt"/>
                <a:cs typeface="+mn-lt"/>
                <a:sym typeface="Times New Roman"/>
              </a:rPr>
              <a:t>Goal: Demonstrate complete QA lifecycle + automation + development + DevOps integration</a:t>
            </a:r>
            <a:endParaRPr lang="en-US" dirty="0">
              <a:sym typeface="Times New Roman"/>
            </a:endParaRPr>
          </a:p>
          <a:p>
            <a:pPr algn="just">
              <a:lnSpc>
                <a:spcPts val="5955"/>
              </a:lnSpc>
            </a:pPr>
            <a:endParaRPr lang="en-US" sz="3950" spc="7" dirty="0">
              <a:solidFill>
                <a:srgbClr val="000000"/>
              </a:solidFill>
              <a:latin typeface="Times New Roman"/>
              <a:ea typeface="Times New Roman"/>
              <a:cs typeface="Times New Roman"/>
            </a:endParaRPr>
          </a:p>
        </p:txBody>
      </p:sp>
      <p:sp>
        <p:nvSpPr>
          <p:cNvPr id="3" name="TextBox 3"/>
          <p:cNvSpPr txBox="1"/>
          <p:nvPr/>
        </p:nvSpPr>
        <p:spPr>
          <a:xfrm>
            <a:off x="291588" y="440427"/>
            <a:ext cx="14423006" cy="1192249"/>
          </a:xfrm>
          <a:prstGeom prst="rect">
            <a:avLst/>
          </a:prstGeom>
        </p:spPr>
        <p:txBody>
          <a:bodyPr lIns="0" tIns="0" rIns="0" bIns="0" rtlCol="0" anchor="t">
            <a:spAutoFit/>
          </a:bodyPr>
          <a:lstStyle/>
          <a:p>
            <a:pPr algn="just">
              <a:lnSpc>
                <a:spcPts val="8686"/>
              </a:lnSpc>
            </a:pPr>
            <a:r>
              <a:rPr lang="en-US" sz="9600" dirty="0">
                <a:solidFill>
                  <a:srgbClr val="0E4714"/>
                </a:solidFill>
                <a:ea typeface="+mn-lt"/>
                <a:cs typeface="+mn-lt"/>
                <a:sym typeface="Times New Roman Condensed"/>
              </a:rPr>
              <a:t>Project Introduction</a:t>
            </a:r>
            <a:endParaRPr lang="en-US" sz="9950" u="sng" dirty="0">
              <a:solidFill>
                <a:srgbClr val="0E4714"/>
              </a:solidFill>
              <a:latin typeface="Times New Roman Condensed"/>
            </a:endParaRPr>
          </a:p>
        </p:txBody>
      </p:sp>
      <p:sp>
        <p:nvSpPr>
          <p:cNvPr id="4" name="Freeform 4"/>
          <p:cNvSpPr/>
          <p:nvPr/>
        </p:nvSpPr>
        <p:spPr>
          <a:xfrm flipH="1">
            <a:off x="7910286" y="-7967959"/>
            <a:ext cx="28550447" cy="11313545"/>
          </a:xfrm>
          <a:custGeom>
            <a:avLst/>
            <a:gdLst/>
            <a:ahLst/>
            <a:cxnLst/>
            <a:rect l="l" t="t" r="r" b="b"/>
            <a:pathLst>
              <a:path w="28550447" h="11313545">
                <a:moveTo>
                  <a:pt x="28550447" y="0"/>
                </a:moveTo>
                <a:lnTo>
                  <a:pt x="0" y="0"/>
                </a:lnTo>
                <a:lnTo>
                  <a:pt x="0" y="11313545"/>
                </a:lnTo>
                <a:lnTo>
                  <a:pt x="28550447" y="11313545"/>
                </a:lnTo>
                <a:lnTo>
                  <a:pt x="28550447" y="0"/>
                </a:lnTo>
                <a:close/>
              </a:path>
            </a:pathLst>
          </a:custGeom>
          <a:blipFill>
            <a:blip r:embed="rId2">
              <a:extLst>
                <a:ext uri="{96DAC541-7B7A-43D3-8B79-37D633B846F1}">
                  <asvg:svgBlip xmlns:asvg="http://schemas.microsoft.com/office/drawing/2016/SVG/main" r:embed="rId3"/>
                </a:ext>
              </a:extLst>
            </a:blip>
            <a:stretch>
              <a:fillRect t="-49969" b="-59256"/>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TextBox 2"/>
          <p:cNvSpPr txBox="1"/>
          <p:nvPr/>
        </p:nvSpPr>
        <p:spPr>
          <a:xfrm>
            <a:off x="346017" y="892184"/>
            <a:ext cx="14423006" cy="835037"/>
          </a:xfrm>
          <a:prstGeom prst="rect">
            <a:avLst/>
          </a:prstGeom>
        </p:spPr>
        <p:txBody>
          <a:bodyPr lIns="0" tIns="0" rIns="0" bIns="0" rtlCol="0" anchor="t">
            <a:spAutoFit/>
          </a:bodyPr>
          <a:lstStyle/>
          <a:p>
            <a:pPr algn="just">
              <a:lnSpc>
                <a:spcPts val="6089"/>
              </a:lnSpc>
            </a:pPr>
            <a:r>
              <a:rPr lang="en-US" sz="6950" dirty="0">
                <a:solidFill>
                  <a:srgbClr val="0E4714"/>
                </a:solidFill>
                <a:ea typeface="+mn-lt"/>
                <a:cs typeface="+mn-lt"/>
                <a:sym typeface="Times New Roman Condensed"/>
              </a:rPr>
              <a:t>Tools &amp; Technologies</a:t>
            </a:r>
            <a:r>
              <a:rPr lang="en-US" sz="6950" dirty="0">
                <a:solidFill>
                  <a:srgbClr val="0E4714"/>
                </a:solidFill>
                <a:latin typeface="Times New Roman Condensed"/>
                <a:sym typeface="Times New Roman Condensed"/>
              </a:rPr>
              <a:t> </a:t>
            </a:r>
            <a:endParaRPr lang="en-US" dirty="0"/>
          </a:p>
        </p:txBody>
      </p:sp>
      <p:sp>
        <p:nvSpPr>
          <p:cNvPr id="3" name="TextBox 3"/>
          <p:cNvSpPr txBox="1"/>
          <p:nvPr/>
        </p:nvSpPr>
        <p:spPr>
          <a:xfrm>
            <a:off x="346017" y="2567339"/>
            <a:ext cx="16913283" cy="6112699"/>
          </a:xfrm>
          <a:prstGeom prst="rect">
            <a:avLst/>
          </a:prstGeom>
        </p:spPr>
        <p:txBody>
          <a:bodyPr lIns="0" tIns="0" rIns="0" bIns="0" rtlCol="0" anchor="t">
            <a:spAutoFit/>
          </a:bodyPr>
          <a:lstStyle/>
          <a:p>
            <a:pPr marL="457200" algn="just">
              <a:buFont typeface="Arial"/>
              <a:buChar char="•"/>
            </a:pPr>
            <a:r>
              <a:rPr lang="en-US" sz="4400" b="1" spc="7" dirty="0">
                <a:solidFill>
                  <a:srgbClr val="000000"/>
                </a:solidFill>
                <a:ea typeface="+mn-lt"/>
                <a:cs typeface="+mn-lt"/>
                <a:sym typeface="Times New Roman"/>
              </a:rPr>
              <a:t>Programming Language</a:t>
            </a:r>
            <a:r>
              <a:rPr lang="en-US" sz="4400" spc="7" dirty="0">
                <a:solidFill>
                  <a:srgbClr val="000000"/>
                </a:solidFill>
                <a:ea typeface="+mn-lt"/>
                <a:cs typeface="+mn-lt"/>
                <a:sym typeface="Times New Roman"/>
              </a:rPr>
              <a:t>: Python</a:t>
            </a:r>
            <a:endParaRPr lang="en-US" sz="4400" spc="7">
              <a:ea typeface="Calibri"/>
              <a:cs typeface="Calibri"/>
            </a:endParaRPr>
          </a:p>
          <a:p>
            <a:pPr lvl="1" algn="just">
              <a:buFont typeface="Arial"/>
              <a:buChar char="•"/>
            </a:pPr>
            <a:r>
              <a:rPr lang="en-US" sz="4400" b="1" spc="7" dirty="0">
                <a:solidFill>
                  <a:srgbClr val="000000"/>
                </a:solidFill>
                <a:ea typeface="+mn-lt"/>
                <a:cs typeface="+mn-lt"/>
                <a:sym typeface="Times New Roman"/>
              </a:rPr>
              <a:t>Automation</a:t>
            </a:r>
            <a:r>
              <a:rPr lang="en-US" sz="4400" spc="7" dirty="0">
                <a:solidFill>
                  <a:srgbClr val="000000"/>
                </a:solidFill>
                <a:ea typeface="+mn-lt"/>
                <a:cs typeface="+mn-lt"/>
                <a:sym typeface="Times New Roman"/>
              </a:rPr>
              <a:t>: Selenium WebDriver, </a:t>
            </a:r>
            <a:r>
              <a:rPr lang="en-US" sz="4400" spc="7" err="1">
                <a:solidFill>
                  <a:srgbClr val="000000"/>
                </a:solidFill>
                <a:ea typeface="+mn-lt"/>
                <a:cs typeface="+mn-lt"/>
                <a:sym typeface="Times New Roman"/>
              </a:rPr>
              <a:t>Pytest</a:t>
            </a:r>
            <a:endParaRPr lang="en-US" sz="4400" spc="7">
              <a:ea typeface="Calibri"/>
              <a:cs typeface="Calibri"/>
            </a:endParaRPr>
          </a:p>
          <a:p>
            <a:pPr lvl="1" algn="just">
              <a:buFont typeface="Arial"/>
              <a:buChar char="•"/>
            </a:pPr>
            <a:r>
              <a:rPr lang="en-US" sz="4400" b="1" spc="7" dirty="0">
                <a:solidFill>
                  <a:srgbClr val="000000"/>
                </a:solidFill>
                <a:ea typeface="+mn-lt"/>
                <a:cs typeface="+mn-lt"/>
                <a:sym typeface="Times New Roman"/>
              </a:rPr>
              <a:t>Mobile Automation</a:t>
            </a:r>
            <a:r>
              <a:rPr lang="en-US" sz="4400" spc="7" dirty="0">
                <a:solidFill>
                  <a:srgbClr val="000000"/>
                </a:solidFill>
                <a:ea typeface="+mn-lt"/>
                <a:cs typeface="+mn-lt"/>
                <a:sym typeface="Times New Roman"/>
              </a:rPr>
              <a:t>: Appium</a:t>
            </a:r>
            <a:endParaRPr lang="en-US" sz="4400" spc="7">
              <a:ea typeface="Calibri"/>
              <a:cs typeface="Calibri"/>
            </a:endParaRPr>
          </a:p>
          <a:p>
            <a:pPr lvl="1" algn="just">
              <a:buFont typeface="Arial"/>
              <a:buChar char="•"/>
            </a:pPr>
            <a:r>
              <a:rPr lang="en-US" sz="4400" b="1" spc="7" dirty="0">
                <a:solidFill>
                  <a:srgbClr val="000000"/>
                </a:solidFill>
                <a:ea typeface="+mn-lt"/>
                <a:cs typeface="+mn-lt"/>
                <a:sym typeface="Times New Roman"/>
              </a:rPr>
              <a:t>DevOps</a:t>
            </a:r>
            <a:r>
              <a:rPr lang="en-US" sz="4400" spc="7" dirty="0">
                <a:solidFill>
                  <a:srgbClr val="000000"/>
                </a:solidFill>
                <a:ea typeface="+mn-lt"/>
                <a:cs typeface="+mn-lt"/>
                <a:sym typeface="Times New Roman"/>
              </a:rPr>
              <a:t>: GitHub Actions</a:t>
            </a:r>
            <a:endParaRPr lang="en-US" sz="4400" spc="7">
              <a:ea typeface="Calibri"/>
              <a:cs typeface="Calibri"/>
            </a:endParaRPr>
          </a:p>
          <a:p>
            <a:pPr lvl="1" algn="just">
              <a:buFont typeface="Arial"/>
              <a:buChar char="•"/>
            </a:pPr>
            <a:r>
              <a:rPr lang="en-US" sz="4400" b="1" spc="7" dirty="0">
                <a:solidFill>
                  <a:srgbClr val="000000"/>
                </a:solidFill>
                <a:ea typeface="+mn-lt"/>
                <a:cs typeface="+mn-lt"/>
                <a:sym typeface="Times New Roman"/>
              </a:rPr>
              <a:t>Test Management</a:t>
            </a:r>
            <a:r>
              <a:rPr lang="en-US" sz="4400" spc="7" dirty="0">
                <a:solidFill>
                  <a:srgbClr val="000000"/>
                </a:solidFill>
                <a:ea typeface="+mn-lt"/>
                <a:cs typeface="+mn-lt"/>
                <a:sym typeface="Times New Roman"/>
              </a:rPr>
              <a:t>: Jira</a:t>
            </a:r>
            <a:endParaRPr lang="en-US" sz="4400" spc="7">
              <a:ea typeface="Calibri"/>
              <a:cs typeface="Calibri"/>
            </a:endParaRPr>
          </a:p>
          <a:p>
            <a:pPr lvl="1" algn="just">
              <a:buFont typeface="Arial"/>
              <a:buChar char="•"/>
            </a:pPr>
            <a:r>
              <a:rPr lang="en-US" sz="4400" b="1" spc="7" dirty="0">
                <a:solidFill>
                  <a:srgbClr val="000000"/>
                </a:solidFill>
                <a:ea typeface="+mn-lt"/>
                <a:cs typeface="+mn-lt"/>
                <a:sym typeface="Times New Roman"/>
              </a:rPr>
              <a:t>Database</a:t>
            </a:r>
            <a:r>
              <a:rPr lang="en-US" sz="4400" spc="7" dirty="0">
                <a:solidFill>
                  <a:srgbClr val="000000"/>
                </a:solidFill>
                <a:ea typeface="+mn-lt"/>
                <a:cs typeface="+mn-lt"/>
                <a:sym typeface="Times New Roman"/>
              </a:rPr>
              <a:t>: PostgreSQL</a:t>
            </a:r>
            <a:endParaRPr lang="en-US" sz="4400">
              <a:ea typeface="Calibri"/>
              <a:cs typeface="Calibri"/>
            </a:endParaRPr>
          </a:p>
          <a:p>
            <a:pPr lvl="1" algn="just">
              <a:buFont typeface="Arial"/>
              <a:buChar char="•"/>
            </a:pPr>
            <a:r>
              <a:rPr lang="en-US" sz="4400" b="1" spc="7" dirty="0">
                <a:solidFill>
                  <a:srgbClr val="000000"/>
                </a:solidFill>
                <a:ea typeface="+mn-lt"/>
                <a:cs typeface="+mn-lt"/>
                <a:sym typeface="Times New Roman"/>
              </a:rPr>
              <a:t>IDE</a:t>
            </a:r>
            <a:r>
              <a:rPr lang="en-US" sz="4400" spc="7" dirty="0">
                <a:solidFill>
                  <a:srgbClr val="000000"/>
                </a:solidFill>
                <a:ea typeface="+mn-lt"/>
                <a:cs typeface="+mn-lt"/>
                <a:sym typeface="Times New Roman"/>
              </a:rPr>
              <a:t>: PyCharm</a:t>
            </a:r>
            <a:endParaRPr lang="en-US" sz="4400">
              <a:ea typeface="Calibri"/>
              <a:cs typeface="Calibri"/>
            </a:endParaRPr>
          </a:p>
          <a:p>
            <a:pPr lvl="1" algn="just">
              <a:buFont typeface="Arial"/>
              <a:buChar char="•"/>
            </a:pPr>
            <a:r>
              <a:rPr lang="en-US" sz="4400" b="1" spc="7" dirty="0">
                <a:solidFill>
                  <a:srgbClr val="000000"/>
                </a:solidFill>
                <a:ea typeface="+mn-lt"/>
                <a:cs typeface="+mn-lt"/>
              </a:rPr>
              <a:t>Version Control</a:t>
            </a:r>
            <a:r>
              <a:rPr lang="en-US" sz="4400" spc="7" dirty="0">
                <a:solidFill>
                  <a:srgbClr val="000000"/>
                </a:solidFill>
                <a:ea typeface="+mn-lt"/>
                <a:cs typeface="+mn-lt"/>
              </a:rPr>
              <a:t>: GitHub</a:t>
            </a:r>
            <a:endParaRPr lang="en-US" sz="4400" dirty="0"/>
          </a:p>
          <a:p>
            <a:pPr marL="862965" lvl="1" indent="-431800" algn="just">
              <a:lnSpc>
                <a:spcPts val="5999"/>
              </a:lnSpc>
              <a:buFont typeface="Arial"/>
              <a:buChar char="•"/>
            </a:pPr>
            <a:endParaRPr lang="en-US" sz="3950" spc="7" dirty="0">
              <a:solidFill>
                <a:srgbClr val="000000"/>
              </a:solidFill>
              <a:latin typeface="Times New Roman"/>
              <a:ea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TextBox 2"/>
          <p:cNvSpPr txBox="1"/>
          <p:nvPr/>
        </p:nvSpPr>
        <p:spPr>
          <a:xfrm>
            <a:off x="346017" y="357754"/>
            <a:ext cx="14423006" cy="778675"/>
          </a:xfrm>
          <a:prstGeom prst="rect">
            <a:avLst/>
          </a:prstGeom>
        </p:spPr>
        <p:txBody>
          <a:bodyPr lIns="0" tIns="0" rIns="0" bIns="0" rtlCol="0" anchor="t">
            <a:spAutoFit/>
          </a:bodyPr>
          <a:lstStyle/>
          <a:p>
            <a:pPr algn="just">
              <a:lnSpc>
                <a:spcPts val="5654"/>
              </a:lnSpc>
            </a:pPr>
            <a:r>
              <a:rPr lang="en-US" sz="6450" dirty="0">
                <a:solidFill>
                  <a:srgbClr val="0E4714"/>
                </a:solidFill>
                <a:ea typeface="+mn-lt"/>
                <a:cs typeface="+mn-lt"/>
                <a:sym typeface="Times New Roman Condensed"/>
              </a:rPr>
              <a:t>Manual Testing with Jira</a:t>
            </a:r>
            <a:r>
              <a:rPr lang="en-US" sz="6450" dirty="0">
                <a:solidFill>
                  <a:srgbClr val="0E4714"/>
                </a:solidFill>
                <a:latin typeface="Times New Roman Condensed"/>
                <a:sym typeface="Times New Roman Condensed"/>
              </a:rPr>
              <a:t> </a:t>
            </a:r>
            <a:endParaRPr lang="en-US" dirty="0"/>
          </a:p>
        </p:txBody>
      </p:sp>
      <p:sp>
        <p:nvSpPr>
          <p:cNvPr id="3" name="TextBox 3"/>
          <p:cNvSpPr txBox="1"/>
          <p:nvPr/>
        </p:nvSpPr>
        <p:spPr>
          <a:xfrm>
            <a:off x="372407" y="1832045"/>
            <a:ext cx="17543185" cy="8190191"/>
          </a:xfrm>
          <a:prstGeom prst="rect">
            <a:avLst/>
          </a:prstGeom>
        </p:spPr>
        <p:txBody>
          <a:bodyPr lIns="0" tIns="0" rIns="0" bIns="0" rtlCol="0" anchor="t">
            <a:spAutoFit/>
          </a:bodyPr>
          <a:lstStyle/>
          <a:p>
            <a:pPr algn="just"/>
            <a:r>
              <a:rPr lang="en-US" sz="3950" spc="7" dirty="0">
                <a:solidFill>
                  <a:srgbClr val="000000"/>
                </a:solidFill>
                <a:ea typeface="+mn-lt"/>
                <a:cs typeface="+mn-lt"/>
              </a:rPr>
              <a:t>Jira is a project management and issue-tracking tool that teams use to plan, track, and manage software development work. For testing, Jira allows you to create, organize, and link test cases with user stories using plugins like Zephyr or Xray.</a:t>
            </a:r>
          </a:p>
          <a:p>
            <a:pPr marL="285750" indent="-285750" algn="just">
              <a:buFont typeface="Arial"/>
              <a:buChar char="•"/>
            </a:pPr>
            <a:endParaRPr lang="en-US" sz="3950" spc="7" dirty="0">
              <a:solidFill>
                <a:srgbClr val="000000"/>
              </a:solidFill>
              <a:ea typeface="+mn-lt"/>
              <a:cs typeface="+mn-lt"/>
              <a:sym typeface="Times New Roman"/>
            </a:endParaRPr>
          </a:p>
          <a:p>
            <a:pPr marL="285750" indent="-285750" algn="just">
              <a:buFont typeface="Arial"/>
              <a:buChar char="•"/>
            </a:pPr>
            <a:r>
              <a:rPr lang="en-US" sz="3950" spc="7" dirty="0">
                <a:solidFill>
                  <a:srgbClr val="000000"/>
                </a:solidFill>
                <a:ea typeface="+mn-lt"/>
                <a:cs typeface="+mn-lt"/>
                <a:sym typeface="Times New Roman"/>
              </a:rPr>
              <a:t>Created </a:t>
            </a:r>
            <a:r>
              <a:rPr lang="en-US" sz="3950" b="1" spc="7" dirty="0">
                <a:solidFill>
                  <a:srgbClr val="000000"/>
                </a:solidFill>
                <a:ea typeface="+mn-lt"/>
                <a:cs typeface="+mn-lt"/>
                <a:sym typeface="Times New Roman"/>
              </a:rPr>
              <a:t>10+ test cases</a:t>
            </a:r>
            <a:r>
              <a:rPr lang="en-US" sz="3950" spc="7" dirty="0">
                <a:solidFill>
                  <a:srgbClr val="000000"/>
                </a:solidFill>
                <a:ea typeface="+mn-lt"/>
                <a:cs typeface="+mn-lt"/>
                <a:sym typeface="Times New Roman"/>
              </a:rPr>
              <a:t> for Ecommerce website</a:t>
            </a:r>
            <a:endParaRPr lang="en-US">
              <a:ea typeface="Calibri"/>
              <a:cs typeface="Calibri"/>
            </a:endParaRPr>
          </a:p>
          <a:p>
            <a:pPr marL="285750" indent="-285750" algn="just">
              <a:buFont typeface="Arial"/>
              <a:buChar char="•"/>
            </a:pPr>
            <a:r>
              <a:rPr lang="en-US" sz="3950" spc="7" dirty="0">
                <a:solidFill>
                  <a:srgbClr val="000000"/>
                </a:solidFill>
                <a:ea typeface="+mn-lt"/>
                <a:cs typeface="+mn-lt"/>
                <a:sym typeface="Times New Roman"/>
              </a:rPr>
              <a:t>Linked test cases with requirements</a:t>
            </a:r>
            <a:endParaRPr lang="en-US" dirty="0"/>
          </a:p>
          <a:p>
            <a:pPr marL="285750" indent="-285750" algn="just">
              <a:buFont typeface="Arial"/>
              <a:buChar char="•"/>
            </a:pPr>
            <a:r>
              <a:rPr lang="en-US" sz="3950" spc="7" dirty="0">
                <a:solidFill>
                  <a:srgbClr val="000000"/>
                </a:solidFill>
                <a:ea typeface="+mn-lt"/>
                <a:cs typeface="+mn-lt"/>
                <a:sym typeface="Times New Roman"/>
              </a:rPr>
              <a:t>Executed tests in Jira test execution cycle</a:t>
            </a:r>
            <a:endParaRPr lang="en-US" dirty="0"/>
          </a:p>
          <a:p>
            <a:pPr marL="285750" indent="-285750" algn="just">
              <a:buFont typeface="Arial"/>
              <a:buChar char="•"/>
            </a:pPr>
            <a:r>
              <a:rPr lang="en-US" sz="3950" spc="7" dirty="0">
                <a:solidFill>
                  <a:srgbClr val="000000"/>
                </a:solidFill>
                <a:ea typeface="+mn-lt"/>
                <a:cs typeface="+mn-lt"/>
                <a:sym typeface="Times New Roman"/>
              </a:rPr>
              <a:t>Marked results as </a:t>
            </a:r>
            <a:r>
              <a:rPr lang="en-US" sz="3950" b="1" spc="7" dirty="0">
                <a:solidFill>
                  <a:srgbClr val="000000"/>
                </a:solidFill>
                <a:ea typeface="+mn-lt"/>
                <a:cs typeface="+mn-lt"/>
                <a:sym typeface="Times New Roman"/>
              </a:rPr>
              <a:t>Pass / Fail</a:t>
            </a:r>
            <a:endParaRPr lang="en-US" dirty="0">
              <a:sym typeface="Times New Roman"/>
            </a:endParaRPr>
          </a:p>
          <a:p>
            <a:pPr marL="285750" indent="-285750" algn="just">
              <a:buFont typeface="Arial"/>
              <a:buChar char="•"/>
            </a:pPr>
            <a:r>
              <a:rPr lang="en-US" sz="3950" spc="7" dirty="0">
                <a:solidFill>
                  <a:srgbClr val="000000"/>
                </a:solidFill>
                <a:ea typeface="+mn-lt"/>
                <a:cs typeface="+mn-lt"/>
                <a:sym typeface="Times New Roman"/>
              </a:rPr>
              <a:t>Logged bugs with:</a:t>
            </a:r>
            <a:endParaRPr lang="en-US" dirty="0"/>
          </a:p>
          <a:p>
            <a:pPr algn="just"/>
            <a:r>
              <a:rPr lang="en-US" sz="3950" spc="7" dirty="0">
                <a:solidFill>
                  <a:srgbClr val="000000"/>
                </a:solidFill>
                <a:ea typeface="+mn-lt"/>
                <a:cs typeface="+mn-lt"/>
                <a:sym typeface="Times New Roman"/>
              </a:rPr>
              <a:t>        Expected &amp; actual </a:t>
            </a:r>
            <a:r>
              <a:rPr lang="en-US" sz="3950" spc="7" dirty="0" err="1">
                <a:solidFill>
                  <a:srgbClr val="000000"/>
                </a:solidFill>
                <a:ea typeface="+mn-lt"/>
                <a:cs typeface="+mn-lt"/>
                <a:sym typeface="Times New Roman"/>
              </a:rPr>
              <a:t>behaviour</a:t>
            </a:r>
            <a:endParaRPr lang="en-US" dirty="0" err="1">
              <a:solidFill>
                <a:srgbClr val="000000"/>
              </a:solidFill>
              <a:ea typeface="+mn-lt"/>
              <a:cs typeface="+mn-lt"/>
              <a:sym typeface="Times New Roman"/>
            </a:endParaRPr>
          </a:p>
          <a:p>
            <a:pPr algn="just"/>
            <a:r>
              <a:rPr lang="en-US" sz="3950" spc="7" dirty="0">
                <a:solidFill>
                  <a:srgbClr val="000000"/>
                </a:solidFill>
                <a:ea typeface="+mn-lt"/>
                <a:cs typeface="+mn-lt"/>
                <a:sym typeface="Times New Roman"/>
              </a:rPr>
              <a:t>        Screenshots</a:t>
            </a:r>
            <a:endParaRPr lang="en-US" dirty="0">
              <a:ea typeface="Calibri"/>
              <a:cs typeface="Calibri"/>
            </a:endParaRPr>
          </a:p>
          <a:p>
            <a:pPr algn="just">
              <a:lnSpc>
                <a:spcPts val="6319"/>
              </a:lnSpc>
            </a:pPr>
            <a:endParaRPr lang="en-US" sz="3950" spc="7" dirty="0">
              <a:solidFill>
                <a:srgbClr val="000000"/>
              </a:solidFill>
              <a:latin typeface="Times New Roman"/>
              <a:ea typeface="Times New Roman"/>
              <a:cs typeface="Times New Roman"/>
            </a:endParaRPr>
          </a:p>
          <a:p>
            <a:pPr algn="just">
              <a:lnSpc>
                <a:spcPts val="5999"/>
              </a:lnSpc>
            </a:pPr>
            <a:r>
              <a:rPr lang="en-US" sz="3950" spc="7" dirty="0">
                <a:solidFill>
                  <a:srgbClr val="000000"/>
                </a:solidFill>
                <a:latin typeface="Times New Roman"/>
                <a:ea typeface="Times New Roman"/>
                <a:cs typeface="Times New Roman"/>
                <a:sym typeface="Times New Roman"/>
              </a:rPr>
              <a:t> </a:t>
            </a:r>
            <a:endParaRPr lang="en-US" sz="3950" spc="7" dirty="0">
              <a:solidFill>
                <a:srgbClr val="000000"/>
              </a:solidFill>
              <a:latin typeface="Times New Roman"/>
              <a:ea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TextBox 2"/>
          <p:cNvSpPr txBox="1"/>
          <p:nvPr/>
        </p:nvSpPr>
        <p:spPr>
          <a:xfrm>
            <a:off x="1" y="140504"/>
            <a:ext cx="18047052" cy="12697387"/>
          </a:xfrm>
          <a:prstGeom prst="rect">
            <a:avLst/>
          </a:prstGeom>
        </p:spPr>
        <p:txBody>
          <a:bodyPr wrap="square" lIns="0" tIns="0" rIns="0" bIns="0" rtlCol="0" anchor="ctr">
            <a:spAutoFit/>
          </a:bodyPr>
          <a:lstStyle/>
          <a:p>
            <a:pPr algn="just">
              <a:lnSpc>
                <a:spcPts val="6959"/>
              </a:lnSpc>
            </a:pPr>
            <a:r>
              <a:rPr lang="en-US" sz="6800" spc="47" dirty="0">
                <a:solidFill>
                  <a:srgbClr val="0E4714"/>
                </a:solidFill>
                <a:ea typeface="+mn-lt"/>
                <a:cs typeface="+mn-lt"/>
                <a:sym typeface="Times New Roman Condensed"/>
              </a:rPr>
              <a:t>Automation Testing (Selenium + Python + </a:t>
            </a:r>
            <a:r>
              <a:rPr lang="en-US" sz="6800" spc="47" err="1">
                <a:solidFill>
                  <a:srgbClr val="0E4714"/>
                </a:solidFill>
                <a:ea typeface="+mn-lt"/>
                <a:cs typeface="+mn-lt"/>
                <a:sym typeface="Times New Roman Condensed"/>
              </a:rPr>
              <a:t>Pytest</a:t>
            </a:r>
            <a:r>
              <a:rPr lang="en-US" sz="6800" spc="47" dirty="0">
                <a:solidFill>
                  <a:srgbClr val="0E4714"/>
                </a:solidFill>
                <a:ea typeface="+mn-lt"/>
                <a:cs typeface="+mn-lt"/>
                <a:sym typeface="Times New Roman Condensed"/>
              </a:rPr>
              <a:t>)</a:t>
            </a:r>
            <a:endParaRPr lang="en-US" sz="6800">
              <a:ea typeface="Calibri"/>
              <a:cs typeface="Calibri"/>
            </a:endParaRPr>
          </a:p>
          <a:p>
            <a:pPr algn="just">
              <a:lnSpc>
                <a:spcPts val="6959"/>
              </a:lnSpc>
            </a:pPr>
            <a:endParaRPr lang="en-US" sz="4000" spc="47" dirty="0">
              <a:ea typeface="+mn-lt"/>
              <a:cs typeface="+mn-lt"/>
            </a:endParaRPr>
          </a:p>
          <a:p>
            <a:pPr algn="just">
              <a:lnSpc>
                <a:spcPts val="6959"/>
              </a:lnSpc>
            </a:pPr>
            <a:r>
              <a:rPr lang="en-US" sz="4000" spc="47" dirty="0">
                <a:ea typeface="+mn-lt"/>
                <a:cs typeface="+mn-lt"/>
              </a:rPr>
              <a:t>Automation Testing with Selenium (using Python and </a:t>
            </a:r>
            <a:r>
              <a:rPr lang="en-US" sz="4000" spc="47" dirty="0" err="1">
                <a:ea typeface="+mn-lt"/>
                <a:cs typeface="+mn-lt"/>
              </a:rPr>
              <a:t>Pytest</a:t>
            </a:r>
            <a:r>
              <a:rPr lang="en-US" sz="4000" spc="47" dirty="0">
                <a:ea typeface="+mn-lt"/>
                <a:cs typeface="+mn-lt"/>
              </a:rPr>
              <a:t>) involves writing scripts to automatically interact with web applications—clicking elements, entering data, and validating results. Selenium handles browser automation, while </a:t>
            </a:r>
            <a:r>
              <a:rPr lang="en-US" sz="4000" spc="47" dirty="0" err="1">
                <a:ea typeface="+mn-lt"/>
                <a:cs typeface="+mn-lt"/>
              </a:rPr>
              <a:t>Pytest</a:t>
            </a:r>
            <a:r>
              <a:rPr lang="en-US" sz="4000" spc="47" dirty="0">
                <a:ea typeface="+mn-lt"/>
                <a:cs typeface="+mn-lt"/>
              </a:rPr>
              <a:t> provides a simple, powerful framework for organizing, running, and reporting test cases. This combination improves test speed, accuracy, and coverage compared to manual testing.</a:t>
            </a:r>
            <a:endParaRPr lang="en-US" sz="4000" dirty="0">
              <a:ea typeface="Calibri"/>
              <a:cs typeface="Calibri"/>
            </a:endParaRPr>
          </a:p>
          <a:p>
            <a:pPr algn="just"/>
            <a:r>
              <a:rPr lang="en-US" sz="4000" b="1" spc="47" dirty="0">
                <a:solidFill>
                  <a:srgbClr val="000000"/>
                </a:solidFill>
                <a:ea typeface="+mn-lt"/>
                <a:cs typeface="+mn-lt"/>
              </a:rPr>
              <a:t>Implemented 3 frameworks:</a:t>
            </a:r>
            <a:r>
              <a:rPr lang="en-US" sz="4000" spc="47" dirty="0">
                <a:solidFill>
                  <a:srgbClr val="000000"/>
                </a:solidFill>
                <a:ea typeface="+mn-lt"/>
                <a:cs typeface="+mn-lt"/>
              </a:rPr>
              <a:t> Page Object Model (POM), Data-Driven Framework,</a:t>
            </a:r>
            <a:endParaRPr lang="en-US" dirty="0">
              <a:solidFill>
                <a:srgbClr val="000000"/>
              </a:solidFill>
              <a:ea typeface="+mn-lt"/>
              <a:cs typeface="+mn-lt"/>
            </a:endParaRPr>
          </a:p>
          <a:p>
            <a:pPr algn="just">
              <a:buFont typeface="Arial"/>
            </a:pPr>
            <a:r>
              <a:rPr lang="en-US" sz="4000" spc="47" dirty="0">
                <a:solidFill>
                  <a:srgbClr val="000000"/>
                </a:solidFill>
                <a:ea typeface="+mn-lt"/>
                <a:cs typeface="+mn-lt"/>
              </a:rPr>
              <a:t>                                                   Modular Framework</a:t>
            </a:r>
            <a:endParaRPr lang="en-US" dirty="0">
              <a:ea typeface="Calibri"/>
              <a:cs typeface="Calibri"/>
            </a:endParaRPr>
          </a:p>
          <a:p>
            <a:pPr algn="just">
              <a:buFont typeface="Arial"/>
            </a:pPr>
            <a:endParaRPr lang="en-US" sz="4000" spc="47" dirty="0">
              <a:solidFill>
                <a:srgbClr val="000000"/>
              </a:solidFill>
              <a:ea typeface="+mn-lt"/>
              <a:cs typeface="+mn-lt"/>
            </a:endParaRPr>
          </a:p>
          <a:p>
            <a:pPr algn="just"/>
            <a:r>
              <a:rPr lang="en-US" sz="4000" b="1" spc="47" dirty="0">
                <a:solidFill>
                  <a:srgbClr val="000000"/>
                </a:solidFill>
                <a:ea typeface="+mn-lt"/>
                <a:cs typeface="+mn-lt"/>
              </a:rPr>
              <a:t>Project Website</a:t>
            </a:r>
            <a:r>
              <a:rPr lang="en-US" sz="4000" spc="47" dirty="0">
                <a:solidFill>
                  <a:srgbClr val="000000"/>
                </a:solidFill>
                <a:ea typeface="+mn-lt"/>
                <a:cs typeface="+mn-lt"/>
              </a:rPr>
              <a:t>:  </a:t>
            </a:r>
            <a:r>
              <a:rPr lang="en-US" sz="3200" b="1" spc="47" dirty="0">
                <a:solidFill>
                  <a:srgbClr val="000000"/>
                </a:solidFill>
                <a:ea typeface="+mn-lt"/>
                <a:cs typeface="+mn-lt"/>
                <a:hlinkClick r:id="rId2"/>
              </a:rPr>
              <a:t>https://demowebshop.tricentis.com/</a:t>
            </a:r>
            <a:endParaRPr lang="en-US" sz="3200"/>
          </a:p>
          <a:p>
            <a:pPr algn="just">
              <a:lnSpc>
                <a:spcPts val="6089"/>
              </a:lnSpc>
            </a:pPr>
            <a:endParaRPr lang="en-US" sz="4000" spc="47" dirty="0">
              <a:solidFill>
                <a:srgbClr val="000000"/>
              </a:solidFill>
              <a:latin typeface="Calibri"/>
              <a:ea typeface="Calibri"/>
              <a:cs typeface="Calibri"/>
            </a:endParaRPr>
          </a:p>
          <a:p>
            <a:pPr algn="just">
              <a:lnSpc>
                <a:spcPts val="6089"/>
              </a:lnSpc>
            </a:pPr>
            <a:endParaRPr lang="en-US" sz="4000" spc="47" dirty="0">
              <a:solidFill>
                <a:srgbClr val="000000"/>
              </a:solidFill>
              <a:latin typeface="Calibri"/>
              <a:ea typeface="Calibri"/>
              <a:cs typeface="Calibri"/>
            </a:endParaRPr>
          </a:p>
          <a:p>
            <a:pPr algn="just">
              <a:lnSpc>
                <a:spcPts val="6089"/>
              </a:lnSpc>
            </a:pPr>
            <a:endParaRPr lang="en-US" sz="7950" u="sng" spc="47" dirty="0">
              <a:solidFill>
                <a:srgbClr val="0E4714"/>
              </a:solidFill>
              <a:latin typeface="Times New Roman Condensed"/>
              <a:ea typeface="Calibri"/>
              <a:cs typeface="Times New Roman"/>
            </a:endParaRPr>
          </a:p>
          <a:p>
            <a:pPr algn="just">
              <a:lnSpc>
                <a:spcPts val="6089"/>
              </a:lnSpc>
            </a:pPr>
            <a:endParaRPr lang="en-US" sz="3999" spc="7">
              <a:latin typeface="Times New Roman"/>
              <a:ea typeface="Calibri"/>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TextBox 2"/>
          <p:cNvSpPr txBox="1"/>
          <p:nvPr/>
        </p:nvSpPr>
        <p:spPr>
          <a:xfrm>
            <a:off x="346017" y="504756"/>
            <a:ext cx="14423006" cy="958789"/>
          </a:xfrm>
          <a:prstGeom prst="rect">
            <a:avLst/>
          </a:prstGeom>
        </p:spPr>
        <p:txBody>
          <a:bodyPr lIns="0" tIns="0" rIns="0" bIns="0" rtlCol="0" anchor="t">
            <a:spAutoFit/>
          </a:bodyPr>
          <a:lstStyle/>
          <a:p>
            <a:pPr algn="just">
              <a:lnSpc>
                <a:spcPts val="7120"/>
              </a:lnSpc>
            </a:pPr>
            <a:r>
              <a:rPr lang="en-US" sz="8150" dirty="0">
                <a:solidFill>
                  <a:srgbClr val="0E4714"/>
                </a:solidFill>
                <a:ea typeface="+mn-lt"/>
                <a:cs typeface="+mn-lt"/>
                <a:sym typeface="Times New Roman Condensed"/>
              </a:rPr>
              <a:t>Python Banking Application (OOP)</a:t>
            </a:r>
            <a:endParaRPr lang="en-US" dirty="0"/>
          </a:p>
        </p:txBody>
      </p:sp>
      <p:sp>
        <p:nvSpPr>
          <p:cNvPr id="3" name="TextBox 3"/>
          <p:cNvSpPr txBox="1"/>
          <p:nvPr/>
        </p:nvSpPr>
        <p:spPr>
          <a:xfrm>
            <a:off x="1011640" y="2021078"/>
            <a:ext cx="16913283" cy="9320821"/>
          </a:xfrm>
          <a:prstGeom prst="rect">
            <a:avLst/>
          </a:prstGeom>
        </p:spPr>
        <p:txBody>
          <a:bodyPr lIns="0" tIns="0" rIns="0" bIns="0" rtlCol="0" anchor="t">
            <a:spAutoFit/>
          </a:bodyPr>
          <a:lstStyle/>
          <a:p>
            <a:pPr marL="285750" indent="-285750" algn="just">
              <a:buFont typeface="Arial"/>
              <a:buChar char="•"/>
            </a:pPr>
            <a:r>
              <a:rPr lang="en-US" sz="3950" spc="147" dirty="0">
                <a:solidFill>
                  <a:srgbClr val="000000"/>
                </a:solidFill>
                <a:ea typeface="+mn-lt"/>
                <a:cs typeface="+mn-lt"/>
                <a:sym typeface="Times New Roman Bold"/>
              </a:rPr>
              <a:t>Developed a console-based banking system</a:t>
            </a:r>
            <a:endParaRPr lang="en-US" dirty="0">
              <a:sym typeface="Times New Roman Bold"/>
            </a:endParaRPr>
          </a:p>
          <a:p>
            <a:pPr marL="285750" indent="-285750" algn="just">
              <a:buFont typeface="Arial"/>
              <a:buChar char="•"/>
            </a:pPr>
            <a:endParaRPr lang="en-US" sz="3950" spc="147" dirty="0">
              <a:solidFill>
                <a:srgbClr val="000000"/>
              </a:solidFill>
              <a:ea typeface="+mn-lt"/>
              <a:cs typeface="+mn-lt"/>
              <a:sym typeface="Times New Roman Bold"/>
            </a:endParaRPr>
          </a:p>
          <a:p>
            <a:pPr marL="285750" indent="-285750" algn="just">
              <a:buFont typeface="Arial"/>
              <a:buChar char="•"/>
            </a:pPr>
            <a:r>
              <a:rPr lang="en-US" sz="3950" spc="147" dirty="0">
                <a:solidFill>
                  <a:srgbClr val="000000"/>
                </a:solidFill>
                <a:ea typeface="+mn-lt"/>
                <a:cs typeface="+mn-lt"/>
                <a:sym typeface="Times New Roman Bold"/>
              </a:rPr>
              <a:t>Implemented OOP concepts:</a:t>
            </a:r>
            <a:endParaRPr lang="en-US" dirty="0">
              <a:sym typeface="Times New Roman Bold"/>
            </a:endParaRPr>
          </a:p>
          <a:p>
            <a:pPr marL="285750" indent="-285750" algn="just">
              <a:buFont typeface="Arial"/>
              <a:buChar char="•"/>
            </a:pPr>
            <a:r>
              <a:rPr lang="en-US" sz="3950" b="1" spc="147" dirty="0">
                <a:solidFill>
                  <a:srgbClr val="000000"/>
                </a:solidFill>
                <a:ea typeface="+mn-lt"/>
                <a:cs typeface="+mn-lt"/>
                <a:sym typeface="Times New Roman"/>
              </a:rPr>
              <a:t>Classes &amp; Objects</a:t>
            </a:r>
            <a:endParaRPr lang="en-US" dirty="0">
              <a:sym typeface="Times New Roman"/>
            </a:endParaRPr>
          </a:p>
          <a:p>
            <a:pPr marL="285750" indent="-285750" algn="just">
              <a:buFont typeface="Arial"/>
              <a:buChar char="•"/>
            </a:pPr>
            <a:r>
              <a:rPr lang="en-US" sz="3950" b="1" spc="147" dirty="0">
                <a:solidFill>
                  <a:srgbClr val="000000"/>
                </a:solidFill>
                <a:ea typeface="+mn-lt"/>
                <a:cs typeface="+mn-lt"/>
                <a:sym typeface="Times New Roman"/>
              </a:rPr>
              <a:t>Encapsulation</a:t>
            </a:r>
            <a:endParaRPr lang="en-US" dirty="0">
              <a:sym typeface="Times New Roman"/>
            </a:endParaRPr>
          </a:p>
          <a:p>
            <a:pPr marL="285750" indent="-285750" algn="just">
              <a:buFont typeface="Arial"/>
              <a:buChar char="•"/>
            </a:pPr>
            <a:r>
              <a:rPr lang="en-US" sz="3950" b="1" spc="147" dirty="0">
                <a:solidFill>
                  <a:srgbClr val="000000"/>
                </a:solidFill>
                <a:ea typeface="+mn-lt"/>
                <a:cs typeface="+mn-lt"/>
                <a:sym typeface="Times New Roman"/>
              </a:rPr>
              <a:t>Abstraction</a:t>
            </a:r>
            <a:endParaRPr lang="en-US" dirty="0">
              <a:sym typeface="Times New Roman"/>
            </a:endParaRPr>
          </a:p>
          <a:p>
            <a:pPr marL="285750" indent="-285750" algn="just">
              <a:buFont typeface="Arial"/>
              <a:buChar char="•"/>
            </a:pPr>
            <a:r>
              <a:rPr lang="en-US" sz="3950" b="1" spc="147" dirty="0">
                <a:solidFill>
                  <a:srgbClr val="000000"/>
                </a:solidFill>
                <a:ea typeface="+mn-lt"/>
                <a:cs typeface="+mn-lt"/>
                <a:sym typeface="Times New Roman"/>
              </a:rPr>
              <a:t>Inheritance &amp; Polymorphism</a:t>
            </a:r>
            <a:endParaRPr lang="en-US" dirty="0">
              <a:sym typeface="Times New Roman"/>
            </a:endParaRPr>
          </a:p>
          <a:p>
            <a:pPr marL="285750" indent="-285750" algn="just">
              <a:buFont typeface="Arial"/>
              <a:buChar char="•"/>
            </a:pPr>
            <a:endParaRPr lang="en-US" sz="3950" b="1" spc="147" dirty="0">
              <a:solidFill>
                <a:srgbClr val="000000"/>
              </a:solidFill>
              <a:ea typeface="+mn-lt"/>
              <a:cs typeface="+mn-lt"/>
              <a:sym typeface="Times New Roman Bold"/>
            </a:endParaRPr>
          </a:p>
          <a:p>
            <a:pPr marL="285750" indent="-285750" algn="just">
              <a:buFont typeface="Arial"/>
              <a:buChar char="•"/>
            </a:pPr>
            <a:r>
              <a:rPr lang="en-US" sz="3950" spc="147" dirty="0">
                <a:solidFill>
                  <a:srgbClr val="000000"/>
                </a:solidFill>
                <a:ea typeface="+mn-lt"/>
                <a:cs typeface="+mn-lt"/>
                <a:sym typeface="Times New Roman Bold"/>
              </a:rPr>
              <a:t>Features</a:t>
            </a:r>
            <a:r>
              <a:rPr lang="en-US" sz="3950" spc="147" dirty="0">
                <a:solidFill>
                  <a:srgbClr val="000000"/>
                </a:solidFill>
                <a:ea typeface="+mn-lt"/>
                <a:cs typeface="+mn-lt"/>
                <a:sym typeface="Times New Roman"/>
              </a:rPr>
              <a:t> implemented</a:t>
            </a:r>
            <a:r>
              <a:rPr lang="en-US" sz="3950" spc="147" dirty="0">
                <a:solidFill>
                  <a:srgbClr val="000000"/>
                </a:solidFill>
                <a:ea typeface="+mn-lt"/>
                <a:cs typeface="+mn-lt"/>
                <a:sym typeface="Times New Roman Bold"/>
              </a:rPr>
              <a:t>:</a:t>
            </a:r>
            <a:endParaRPr lang="en-US" sz="3950" dirty="0">
              <a:ea typeface="+mn-lt"/>
              <a:cs typeface="+mn-lt"/>
            </a:endParaRPr>
          </a:p>
          <a:p>
            <a:pPr marL="285750" indent="-285750" algn="just">
              <a:buFont typeface="Arial"/>
              <a:buChar char="•"/>
            </a:pPr>
            <a:r>
              <a:rPr lang="en-US" sz="3950" spc="147" dirty="0">
                <a:solidFill>
                  <a:srgbClr val="000000"/>
                </a:solidFill>
                <a:ea typeface="+mn-lt"/>
                <a:cs typeface="+mn-lt"/>
                <a:sym typeface="Times New Roman"/>
              </a:rPr>
              <a:t>Customer creation</a:t>
            </a:r>
            <a:endParaRPr lang="en-US" dirty="0">
              <a:sym typeface="Times New Roman"/>
            </a:endParaRPr>
          </a:p>
          <a:p>
            <a:pPr marL="285750" indent="-285750" algn="just">
              <a:buFont typeface="Arial"/>
              <a:buChar char="•"/>
            </a:pPr>
            <a:r>
              <a:rPr lang="en-US" sz="3950" spc="147" dirty="0">
                <a:solidFill>
                  <a:srgbClr val="000000"/>
                </a:solidFill>
                <a:ea typeface="+mn-lt"/>
                <a:cs typeface="+mn-lt"/>
                <a:sym typeface="Times New Roman"/>
              </a:rPr>
              <a:t>Account creation</a:t>
            </a:r>
            <a:endParaRPr lang="en-US" dirty="0">
              <a:sym typeface="Times New Roman"/>
            </a:endParaRPr>
          </a:p>
          <a:p>
            <a:pPr marL="285750" indent="-285750" algn="just">
              <a:buFont typeface="Arial"/>
              <a:buChar char="•"/>
            </a:pPr>
            <a:r>
              <a:rPr lang="en-US" sz="3950" spc="147" dirty="0">
                <a:solidFill>
                  <a:srgbClr val="000000"/>
                </a:solidFill>
                <a:ea typeface="+mn-lt"/>
                <a:cs typeface="+mn-lt"/>
                <a:sym typeface="Times New Roman"/>
              </a:rPr>
              <a:t>Deposit / Withdrawal</a:t>
            </a:r>
            <a:endParaRPr lang="en-US" dirty="0"/>
          </a:p>
          <a:p>
            <a:pPr marL="285750" indent="-285750" algn="just">
              <a:buFont typeface="Arial"/>
              <a:buChar char="•"/>
            </a:pPr>
            <a:r>
              <a:rPr lang="en-US" sz="3950" spc="147" dirty="0">
                <a:solidFill>
                  <a:srgbClr val="000000"/>
                </a:solidFill>
                <a:ea typeface="+mn-lt"/>
                <a:cs typeface="+mn-lt"/>
                <a:sym typeface="Times New Roman"/>
              </a:rPr>
              <a:t>Balance check</a:t>
            </a:r>
            <a:endParaRPr lang="en-US" dirty="0"/>
          </a:p>
          <a:p>
            <a:pPr algn="just">
              <a:lnSpc>
                <a:spcPts val="5999"/>
              </a:lnSpc>
            </a:pPr>
            <a:endParaRPr lang="en-US" sz="3950" b="1" spc="147" dirty="0">
              <a:solidFill>
                <a:srgbClr val="000000"/>
              </a:solidFill>
              <a:latin typeface="Times New Roman Bold"/>
              <a:ea typeface="Times New Roman"/>
              <a:cs typeface="Times New Roman Bold"/>
            </a:endParaRPr>
          </a:p>
          <a:p>
            <a:pPr algn="just">
              <a:lnSpc>
                <a:spcPts val="5472"/>
              </a:lnSpc>
            </a:pPr>
            <a:endParaRPr lang="en-US" sz="3999" spc="147">
              <a:solidFill>
                <a:srgbClr val="000000"/>
              </a:solidFill>
              <a:latin typeface="Times New Roman"/>
              <a:ea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TextBox 2"/>
          <p:cNvSpPr txBox="1"/>
          <p:nvPr/>
        </p:nvSpPr>
        <p:spPr>
          <a:xfrm>
            <a:off x="353091" y="334086"/>
            <a:ext cx="14423006" cy="944105"/>
          </a:xfrm>
          <a:prstGeom prst="rect">
            <a:avLst/>
          </a:prstGeom>
        </p:spPr>
        <p:txBody>
          <a:bodyPr lIns="0" tIns="0" rIns="0" bIns="0" rtlCol="0" anchor="t">
            <a:spAutoFit/>
          </a:bodyPr>
          <a:lstStyle/>
          <a:p>
            <a:pPr algn="just">
              <a:lnSpc>
                <a:spcPts val="6959"/>
              </a:lnSpc>
            </a:pPr>
            <a:r>
              <a:rPr lang="en-US" sz="8000" spc="256" dirty="0">
                <a:solidFill>
                  <a:srgbClr val="0E4714"/>
                </a:solidFill>
                <a:ea typeface="+mn-lt"/>
                <a:cs typeface="+mn-lt"/>
                <a:sym typeface="Times New Roman Condensed"/>
              </a:rPr>
              <a:t>SQL Queries (PostgreSQL)</a:t>
            </a:r>
            <a:endParaRPr lang="en-US" dirty="0"/>
          </a:p>
        </p:txBody>
      </p:sp>
      <p:sp>
        <p:nvSpPr>
          <p:cNvPr id="3" name="TextBox 3"/>
          <p:cNvSpPr txBox="1"/>
          <p:nvPr/>
        </p:nvSpPr>
        <p:spPr>
          <a:xfrm>
            <a:off x="1028700" y="1589468"/>
            <a:ext cx="16913283" cy="4282647"/>
          </a:xfrm>
          <a:prstGeom prst="rect">
            <a:avLst/>
          </a:prstGeom>
        </p:spPr>
        <p:txBody>
          <a:bodyPr lIns="0" tIns="0" rIns="0" bIns="0" rtlCol="0" anchor="t">
            <a:spAutoFit/>
          </a:bodyPr>
          <a:lstStyle/>
          <a:p>
            <a:pPr algn="just">
              <a:lnSpc>
                <a:spcPts val="5999"/>
              </a:lnSpc>
            </a:pPr>
            <a:r>
              <a:rPr lang="en-US" sz="3950" spc="147" dirty="0">
                <a:solidFill>
                  <a:srgbClr val="000000"/>
                </a:solidFill>
                <a:latin typeface="Times New Roman"/>
                <a:ea typeface="Times New Roman"/>
                <a:cs typeface="Times New Roman"/>
                <a:sym typeface="Times New Roman"/>
              </a:rPr>
              <a:t> </a:t>
            </a:r>
            <a:r>
              <a:rPr lang="en-US" sz="3950" spc="147" dirty="0">
                <a:solidFill>
                  <a:srgbClr val="000000"/>
                </a:solidFill>
                <a:latin typeface="Times New Roman"/>
                <a:ea typeface="+mn-lt"/>
                <a:cs typeface="+mn-lt"/>
                <a:sym typeface="Times New Roman Bold"/>
              </a:rPr>
              <a:t>Performed SQL operations for banking system:</a:t>
            </a:r>
            <a:endParaRPr lang="en-US" sz="3950" spc="147" dirty="0">
              <a:solidFill>
                <a:srgbClr val="000000"/>
              </a:solidFill>
              <a:latin typeface="Times New Roman"/>
              <a:ea typeface="+mn-lt"/>
              <a:cs typeface="+mn-lt"/>
            </a:endParaRPr>
          </a:p>
          <a:p>
            <a:pPr marL="755650" lvl="1" indent="-377825" algn="just">
              <a:lnSpc>
                <a:spcPts val="5250"/>
              </a:lnSpc>
              <a:buFont typeface="Arial"/>
              <a:buChar char="•"/>
            </a:pPr>
            <a:r>
              <a:rPr lang="en-US" sz="3500" spc="129" dirty="0">
                <a:solidFill>
                  <a:srgbClr val="000000"/>
                </a:solidFill>
                <a:latin typeface="Times New Roman"/>
                <a:ea typeface="Times New Roman"/>
                <a:cs typeface="Times New Roman"/>
              </a:rPr>
              <a:t>Created tables and Performed CRUD operations, joins and used DDL, DML, DQL queries</a:t>
            </a:r>
          </a:p>
          <a:p>
            <a:pPr algn="just">
              <a:lnSpc>
                <a:spcPts val="5999"/>
              </a:lnSpc>
            </a:pPr>
            <a:endParaRPr lang="en-US" sz="3950" b="1" spc="147" dirty="0">
              <a:solidFill>
                <a:srgbClr val="000000"/>
              </a:solidFill>
              <a:latin typeface="Times New Roman Bold"/>
              <a:ea typeface="Times New Roman"/>
              <a:cs typeface="Times New Roman Bold"/>
            </a:endParaRPr>
          </a:p>
          <a:p>
            <a:pPr algn="just">
              <a:lnSpc>
                <a:spcPts val="5999"/>
              </a:lnSpc>
            </a:pPr>
            <a:endParaRPr lang="en-US" sz="3500" spc="129">
              <a:solidFill>
                <a:srgbClr val="000000"/>
              </a:solidFill>
              <a:latin typeface="Times New Roman"/>
              <a:ea typeface="Times New Roman"/>
              <a:cs typeface="Times New Roman"/>
              <a:sym typeface="Times New Roman"/>
            </a:endParaRPr>
          </a:p>
          <a:p>
            <a:pPr algn="just">
              <a:lnSpc>
                <a:spcPts val="5250"/>
              </a:lnSpc>
            </a:pPr>
            <a:endParaRPr lang="en-US" sz="3500" spc="129">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05959F54-0B8E-1B6B-16FF-17AB554FA2DB}"/>
              </a:ext>
            </a:extLst>
          </p:cNvPr>
          <p:cNvSpPr txBox="1"/>
          <p:nvPr/>
        </p:nvSpPr>
        <p:spPr>
          <a:xfrm>
            <a:off x="1" y="3727544"/>
            <a:ext cx="12402401"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0" dirty="0">
                <a:solidFill>
                  <a:srgbClr val="0E4714"/>
                </a:solidFill>
                <a:ea typeface="+mn-lt"/>
                <a:cs typeface="+mn-lt"/>
              </a:rPr>
              <a:t>Appium Mobile Automation</a:t>
            </a:r>
            <a:endParaRPr lang="en-US" dirty="0">
              <a:ea typeface="+mn-lt"/>
              <a:cs typeface="+mn-lt"/>
            </a:endParaRPr>
          </a:p>
          <a:p>
            <a:pPr algn="ctr"/>
            <a:endParaRPr lang="en-US"/>
          </a:p>
        </p:txBody>
      </p:sp>
      <p:sp>
        <p:nvSpPr>
          <p:cNvPr id="6" name="TextBox 5">
            <a:extLst>
              <a:ext uri="{FF2B5EF4-FFF2-40B4-BE49-F238E27FC236}">
                <a16:creationId xmlns:a16="http://schemas.microsoft.com/office/drawing/2014/main" id="{B0C0B95B-D01C-C6CB-9A59-9D18DA261141}"/>
              </a:ext>
            </a:extLst>
          </p:cNvPr>
          <p:cNvSpPr txBox="1"/>
          <p:nvPr/>
        </p:nvSpPr>
        <p:spPr>
          <a:xfrm>
            <a:off x="742443" y="5333365"/>
            <a:ext cx="17227006" cy="49552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4000" dirty="0">
                <a:latin typeface="Times New Roman"/>
                <a:ea typeface="+mn-lt"/>
                <a:cs typeface="+mn-lt"/>
              </a:rPr>
              <a:t>Appium is an open-source tool used for automating mobile applications on Android and iOS. It allows you to write tests using any programming language and run them on real devices or emulators. With Appium, testers can validate UI interactions, functionality, and performance just like a real user.</a:t>
            </a:r>
            <a:endParaRPr lang="en-US" dirty="0">
              <a:latin typeface="Times New Roman"/>
              <a:ea typeface="+mn-lt"/>
              <a:cs typeface="+mn-lt"/>
            </a:endParaRPr>
          </a:p>
          <a:p>
            <a:endParaRPr lang="en-US" sz="4000" dirty="0">
              <a:ea typeface="+mn-lt"/>
              <a:cs typeface="+mn-lt"/>
            </a:endParaRPr>
          </a:p>
          <a:p>
            <a:r>
              <a:rPr lang="en-US" sz="4000" dirty="0">
                <a:ea typeface="+mn-lt"/>
                <a:cs typeface="+mn-lt"/>
              </a:rPr>
              <a:t>Tools: Appium Server + Emulator + </a:t>
            </a:r>
            <a:r>
              <a:rPr lang="en-US" sz="4000" dirty="0" err="1">
                <a:ea typeface="+mn-lt"/>
                <a:cs typeface="+mn-lt"/>
              </a:rPr>
              <a:t>KWADemo</a:t>
            </a:r>
            <a:r>
              <a:rPr lang="en-US" sz="4000" dirty="0">
                <a:ea typeface="+mn-lt"/>
                <a:cs typeface="+mn-lt"/>
              </a:rPr>
              <a:t> App</a:t>
            </a:r>
            <a:endParaRPr lang="en-US">
              <a:ea typeface="Calibri"/>
              <a:cs typeface="Calibri"/>
            </a:endParaRPr>
          </a:p>
          <a:p>
            <a:endParaRPr lang="en-US" sz="4000" dirty="0">
              <a:ea typeface="+mn-lt"/>
              <a:cs typeface="+mn-lt"/>
            </a:endParaRPr>
          </a:p>
          <a:p>
            <a:endParaRPr lang="en-US" dirty="0">
              <a:ea typeface="Calibri"/>
              <a:cs typeface="Calibri"/>
            </a:endParaRPr>
          </a:p>
          <a:p>
            <a:endParaRPr lang="en-US" dirty="0">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a:extLst>
            <a:ext uri="{FF2B5EF4-FFF2-40B4-BE49-F238E27FC236}">
              <a16:creationId xmlns:a16="http://schemas.microsoft.com/office/drawing/2014/main" id="{F4DC2907-36A6-349F-F9EF-4801456566D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EBF1998-9FD1-17A3-DEFD-78BAE268BF02}"/>
              </a:ext>
            </a:extLst>
          </p:cNvPr>
          <p:cNvSpPr txBox="1"/>
          <p:nvPr/>
        </p:nvSpPr>
        <p:spPr>
          <a:xfrm>
            <a:off x="353091" y="334086"/>
            <a:ext cx="14423006" cy="923779"/>
          </a:xfrm>
          <a:prstGeom prst="rect">
            <a:avLst/>
          </a:prstGeom>
        </p:spPr>
        <p:txBody>
          <a:bodyPr lIns="0" tIns="0" rIns="0" bIns="0" rtlCol="0" anchor="t">
            <a:spAutoFit/>
          </a:bodyPr>
          <a:lstStyle/>
          <a:p>
            <a:pPr algn="just">
              <a:lnSpc>
                <a:spcPts val="6959"/>
              </a:lnSpc>
            </a:pPr>
            <a:r>
              <a:rPr lang="en-US" sz="7400" spc="256" dirty="0">
                <a:solidFill>
                  <a:srgbClr val="0E4714"/>
                </a:solidFill>
                <a:latin typeface="Times New Roman"/>
                <a:ea typeface="+mn-lt"/>
                <a:cs typeface="+mn-lt"/>
                <a:sym typeface="Times New Roman Condensed"/>
              </a:rPr>
              <a:t>GitHub Version Control</a:t>
            </a:r>
            <a:endParaRPr lang="en-US" sz="7400">
              <a:latin typeface="Times New Roman"/>
              <a:ea typeface="Calibri"/>
              <a:cs typeface="Calibri"/>
            </a:endParaRPr>
          </a:p>
        </p:txBody>
      </p:sp>
      <p:sp>
        <p:nvSpPr>
          <p:cNvPr id="3" name="TextBox 3">
            <a:extLst>
              <a:ext uri="{FF2B5EF4-FFF2-40B4-BE49-F238E27FC236}">
                <a16:creationId xmlns:a16="http://schemas.microsoft.com/office/drawing/2014/main" id="{AC0321D7-A886-6222-D747-3E9631589A50}"/>
              </a:ext>
            </a:extLst>
          </p:cNvPr>
          <p:cNvSpPr txBox="1"/>
          <p:nvPr/>
        </p:nvSpPr>
        <p:spPr>
          <a:xfrm>
            <a:off x="1028700" y="1589468"/>
            <a:ext cx="16913283" cy="4462184"/>
          </a:xfrm>
          <a:prstGeom prst="rect">
            <a:avLst/>
          </a:prstGeom>
        </p:spPr>
        <p:txBody>
          <a:bodyPr lIns="0" tIns="0" rIns="0" bIns="0" rtlCol="0" anchor="t">
            <a:spAutoFit/>
          </a:bodyPr>
          <a:lstStyle/>
          <a:p>
            <a:pPr algn="just">
              <a:lnSpc>
                <a:spcPts val="5999"/>
              </a:lnSpc>
            </a:pPr>
            <a:r>
              <a:rPr lang="en-US" sz="3950" spc="147" dirty="0">
                <a:solidFill>
                  <a:srgbClr val="000000"/>
                </a:solidFill>
                <a:latin typeface="Times New Roman"/>
                <a:ea typeface="Times New Roman"/>
                <a:cs typeface="Times New Roman"/>
                <a:sym typeface="Times New Roman"/>
              </a:rPr>
              <a:t> </a:t>
            </a:r>
            <a:r>
              <a:rPr lang="en-US" sz="4000" spc="147" dirty="0">
                <a:solidFill>
                  <a:srgbClr val="000000"/>
                </a:solidFill>
                <a:latin typeface="Times New Roman"/>
                <a:ea typeface="+mn-lt"/>
                <a:cs typeface="+mn-lt"/>
                <a:sym typeface="Times New Roman Bold"/>
              </a:rPr>
              <a:t>GitHub is a cloud-based platform for hosting </a:t>
            </a:r>
            <a:r>
              <a:rPr lang="en-US" sz="4000" spc="147" dirty="0">
                <a:solidFill>
                  <a:srgbClr val="000000"/>
                </a:solidFill>
                <a:latin typeface="Times New Roman"/>
                <a:ea typeface="+mn-lt"/>
                <a:cs typeface="+mn-lt"/>
              </a:rPr>
              <a:t>and managing code repositories using Git version control. It allows teams to collaborate, track changes, review code, and manage project workflows.</a:t>
            </a:r>
            <a:endParaRPr lang="en-US" sz="4000" dirty="0">
              <a:latin typeface="Times New Roman"/>
            </a:endParaRPr>
          </a:p>
          <a:p>
            <a:pPr algn="just">
              <a:lnSpc>
                <a:spcPts val="5999"/>
              </a:lnSpc>
            </a:pPr>
            <a:endParaRPr lang="en-US" sz="3950" b="1" spc="147" dirty="0">
              <a:solidFill>
                <a:srgbClr val="000000"/>
              </a:solidFill>
              <a:latin typeface="Times New Roman Bold"/>
              <a:ea typeface="Times New Roman"/>
              <a:cs typeface="Times New Roman Bold"/>
            </a:endParaRPr>
          </a:p>
          <a:p>
            <a:pPr algn="just">
              <a:lnSpc>
                <a:spcPts val="5999"/>
              </a:lnSpc>
            </a:pPr>
            <a:endParaRPr lang="en-US" sz="3500" spc="129">
              <a:solidFill>
                <a:srgbClr val="000000"/>
              </a:solidFill>
              <a:latin typeface="Times New Roman"/>
              <a:ea typeface="Times New Roman"/>
              <a:cs typeface="Times New Roman"/>
              <a:sym typeface="Times New Roman"/>
            </a:endParaRPr>
          </a:p>
          <a:p>
            <a:pPr algn="just">
              <a:lnSpc>
                <a:spcPts val="5250"/>
              </a:lnSpc>
            </a:pPr>
            <a:endParaRPr lang="en-US" sz="3500" spc="129">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28E00A7A-095C-8B08-3C4A-2AF3ED0F5682}"/>
              </a:ext>
            </a:extLst>
          </p:cNvPr>
          <p:cNvSpPr txBox="1"/>
          <p:nvPr/>
        </p:nvSpPr>
        <p:spPr>
          <a:xfrm>
            <a:off x="1" y="4341693"/>
            <a:ext cx="12402401"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400" dirty="0">
                <a:solidFill>
                  <a:srgbClr val="0E4714"/>
                </a:solidFill>
                <a:latin typeface="Times New Roman"/>
                <a:ea typeface="+mn-lt"/>
                <a:cs typeface="+mn-lt"/>
              </a:rPr>
              <a:t>Challenges Faced:</a:t>
            </a:r>
            <a:endParaRPr lang="en-US" sz="7400" dirty="0">
              <a:latin typeface="Times New Roman"/>
              <a:ea typeface="+mn-lt"/>
              <a:cs typeface="+mn-lt"/>
            </a:endParaRPr>
          </a:p>
          <a:p>
            <a:pPr algn="ctr"/>
            <a:endParaRPr lang="en-US"/>
          </a:p>
        </p:txBody>
      </p:sp>
      <p:sp>
        <p:nvSpPr>
          <p:cNvPr id="6" name="TextBox 5">
            <a:extLst>
              <a:ext uri="{FF2B5EF4-FFF2-40B4-BE49-F238E27FC236}">
                <a16:creationId xmlns:a16="http://schemas.microsoft.com/office/drawing/2014/main" id="{A3B74D6E-9CA1-D06F-F83E-B0975C32EC67}"/>
              </a:ext>
            </a:extLst>
          </p:cNvPr>
          <p:cNvSpPr txBox="1"/>
          <p:nvPr/>
        </p:nvSpPr>
        <p:spPr>
          <a:xfrm>
            <a:off x="742443" y="5862216"/>
            <a:ext cx="17227006" cy="49552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pPr>
            <a:r>
              <a:rPr lang="en-US" sz="4000" dirty="0">
                <a:ea typeface="+mn-lt"/>
                <a:cs typeface="+mn-lt"/>
              </a:rPr>
              <a:t>GitHub Actions failed because browser was set to GUI mode:</a:t>
            </a:r>
            <a:endParaRPr lang="en-US" dirty="0">
              <a:ea typeface="Calibri"/>
              <a:cs typeface="Calibri"/>
            </a:endParaRPr>
          </a:p>
          <a:p>
            <a:r>
              <a:rPr lang="en-US" sz="4000" dirty="0">
                <a:ea typeface="+mn-lt"/>
                <a:cs typeface="+mn-lt"/>
              </a:rPr>
              <a:t>                 Fix: Change headless = true     </a:t>
            </a:r>
          </a:p>
          <a:p>
            <a:pPr marL="571500" indent="-571500">
              <a:buFont typeface="Arial"/>
              <a:buChar char="•"/>
            </a:pPr>
            <a:endParaRPr lang="en-US" sz="4000" dirty="0">
              <a:ea typeface="+mn-lt"/>
              <a:cs typeface="+mn-lt"/>
            </a:endParaRPr>
          </a:p>
          <a:p>
            <a:pPr marL="571500" indent="-571500">
              <a:buFont typeface="Arial"/>
              <a:buChar char="•"/>
            </a:pPr>
            <a:r>
              <a:rPr lang="en-US" sz="4000" dirty="0">
                <a:ea typeface="+mn-lt"/>
                <a:cs typeface="+mn-lt"/>
              </a:rPr>
              <a:t>Fixing Stale Element Exceptions: While opening search results, DOM refreshed → stale element error.</a:t>
            </a:r>
          </a:p>
          <a:p>
            <a:r>
              <a:rPr lang="en-US" sz="4000" dirty="0">
                <a:ea typeface="+mn-lt"/>
                <a:cs typeface="+mn-lt"/>
              </a:rPr>
              <a:t>                 Fix: Re-fetch elements after DOM reload:</a:t>
            </a:r>
          </a:p>
          <a:p>
            <a:endParaRPr lang="en-US" sz="4000" dirty="0">
              <a:ea typeface="Calibri"/>
              <a:cs typeface="Calibri"/>
            </a:endParaRP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207574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TextBox 2"/>
          <p:cNvSpPr txBox="1"/>
          <p:nvPr/>
        </p:nvSpPr>
        <p:spPr>
          <a:xfrm>
            <a:off x="687359" y="579319"/>
            <a:ext cx="16913283" cy="4577600"/>
          </a:xfrm>
          <a:prstGeom prst="rect">
            <a:avLst/>
          </a:prstGeom>
        </p:spPr>
        <p:txBody>
          <a:bodyPr lIns="0" tIns="0" rIns="0" bIns="0" rtlCol="0" anchor="t">
            <a:spAutoFit/>
          </a:bodyPr>
          <a:lstStyle/>
          <a:p>
            <a:pPr algn="just">
              <a:lnSpc>
                <a:spcPts val="6749"/>
              </a:lnSpc>
            </a:pPr>
            <a:r>
              <a:rPr lang="en-US" sz="4450" spc="166" dirty="0">
                <a:solidFill>
                  <a:srgbClr val="000000"/>
                </a:solidFill>
                <a:latin typeface="Times New Roman"/>
                <a:ea typeface="Times New Roman"/>
                <a:cs typeface="Times New Roman"/>
                <a:sym typeface="Times New Roman"/>
              </a:rPr>
              <a:t> </a:t>
            </a:r>
            <a:r>
              <a:rPr lang="en-US" sz="7500" b="1" spc="166" dirty="0">
                <a:solidFill>
                  <a:schemeClr val="tx2">
                    <a:lumMod val="49000"/>
                  </a:schemeClr>
                </a:solidFill>
                <a:latin typeface="Times New Roman"/>
                <a:ea typeface="+mn-lt"/>
                <a:cs typeface="+mn-lt"/>
                <a:sym typeface="Times New Roman Bold"/>
              </a:rPr>
              <a:t>Key Learnings</a:t>
            </a:r>
            <a:endParaRPr lang="en-US" sz="7500" b="1" u="sng" spc="166" dirty="0">
              <a:solidFill>
                <a:schemeClr val="tx2">
                  <a:lumMod val="49000"/>
                </a:schemeClr>
              </a:solidFill>
              <a:latin typeface="Times New Roman"/>
              <a:ea typeface="Times New Roman Bold"/>
              <a:cs typeface="Times New Roman Bold"/>
              <a:sym typeface="Times New Roman Bold"/>
            </a:endParaRPr>
          </a:p>
          <a:p>
            <a:pPr marL="755650" lvl="1" indent="-377825" algn="just">
              <a:lnSpc>
                <a:spcPts val="5250"/>
              </a:lnSpc>
              <a:buFont typeface="Arial"/>
              <a:buChar char="•"/>
            </a:pPr>
            <a:endParaRPr lang="en-US" sz="3500" spc="129" dirty="0">
              <a:solidFill>
                <a:srgbClr val="000000"/>
              </a:solidFill>
              <a:latin typeface="Calibri"/>
              <a:ea typeface="Calibri"/>
              <a:cs typeface="Times New Roman"/>
            </a:endParaRPr>
          </a:p>
          <a:p>
            <a:pPr algn="just">
              <a:lnSpc>
                <a:spcPts val="5250"/>
              </a:lnSpc>
            </a:pPr>
            <a:endParaRPr lang="en-US" sz="3500" spc="129">
              <a:solidFill>
                <a:srgbClr val="000000"/>
              </a:solidFill>
              <a:latin typeface="Times New Roman"/>
              <a:ea typeface="Times New Roman"/>
              <a:cs typeface="Times New Roman"/>
              <a:sym typeface="Times New Roman"/>
            </a:endParaRPr>
          </a:p>
          <a:p>
            <a:pPr algn="just">
              <a:lnSpc>
                <a:spcPts val="7649"/>
              </a:lnSpc>
            </a:pPr>
            <a:endParaRPr lang="en-US" sz="3500" spc="129">
              <a:solidFill>
                <a:srgbClr val="000000"/>
              </a:solidFill>
              <a:latin typeface="Times New Roman"/>
              <a:ea typeface="Times New Roman"/>
              <a:cs typeface="Times New Roman"/>
              <a:sym typeface="Times New Roman"/>
            </a:endParaRPr>
          </a:p>
          <a:p>
            <a:pPr algn="just">
              <a:lnSpc>
                <a:spcPts val="5999"/>
              </a:lnSpc>
            </a:pPr>
            <a:endParaRPr lang="en-US" sz="3500" spc="129">
              <a:solidFill>
                <a:srgbClr val="000000"/>
              </a:solidFill>
              <a:latin typeface="Times New Roman"/>
              <a:ea typeface="Times New Roman"/>
              <a:cs typeface="Times New Roman"/>
              <a:sym typeface="Times New Roman"/>
            </a:endParaRPr>
          </a:p>
          <a:p>
            <a:pPr algn="just">
              <a:lnSpc>
                <a:spcPts val="5250"/>
              </a:lnSpc>
            </a:pPr>
            <a:endParaRPr lang="en-US" sz="3500" spc="129">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A0115A09-9BB6-7CBF-BE5C-519FD39509CE}"/>
              </a:ext>
            </a:extLst>
          </p:cNvPr>
          <p:cNvSpPr txBox="1"/>
          <p:nvPr/>
        </p:nvSpPr>
        <p:spPr>
          <a:xfrm>
            <a:off x="1416623" y="2295282"/>
            <a:ext cx="14848862"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4800">
                <a:ea typeface="+mn-lt"/>
                <a:cs typeface="+mn-lt"/>
              </a:rPr>
              <a:t>Complete SDLC &amp; STLC</a:t>
            </a:r>
            <a:endParaRPr lang="en-US" sz="4800">
              <a:ea typeface="Calibri"/>
              <a:cs typeface="Calibri"/>
            </a:endParaRPr>
          </a:p>
          <a:p>
            <a:pPr marL="285750" indent="-285750">
              <a:buFont typeface="Arial"/>
              <a:buChar char="•"/>
            </a:pPr>
            <a:r>
              <a:rPr lang="en-US" sz="4800">
                <a:ea typeface="+mn-lt"/>
                <a:cs typeface="+mn-lt"/>
              </a:rPr>
              <a:t>POM &amp; Data-Driven automation</a:t>
            </a:r>
            <a:endParaRPr lang="en-US" sz="4800">
              <a:ea typeface="Calibri"/>
              <a:cs typeface="Calibri"/>
            </a:endParaRPr>
          </a:p>
          <a:p>
            <a:pPr marL="285750" indent="-285750">
              <a:buFont typeface="Arial"/>
              <a:buChar char="•"/>
            </a:pPr>
            <a:r>
              <a:rPr lang="en-US" sz="4800" dirty="0">
                <a:ea typeface="+mn-lt"/>
                <a:cs typeface="+mn-lt"/>
              </a:rPr>
              <a:t>CI/CD pipeline setup</a:t>
            </a:r>
            <a:endParaRPr lang="en-US" sz="4800" dirty="0">
              <a:ea typeface="Calibri"/>
              <a:cs typeface="Calibri"/>
            </a:endParaRPr>
          </a:p>
          <a:p>
            <a:pPr marL="285750" indent="-285750">
              <a:buFont typeface="Arial"/>
              <a:buChar char="•"/>
            </a:pPr>
            <a:r>
              <a:rPr lang="en-US" sz="4800">
                <a:ea typeface="+mn-lt"/>
                <a:cs typeface="+mn-lt"/>
              </a:rPr>
              <a:t>Python OOP design</a:t>
            </a:r>
            <a:endParaRPr lang="en-US" sz="4800">
              <a:ea typeface="Calibri"/>
              <a:cs typeface="Calibri"/>
            </a:endParaRPr>
          </a:p>
          <a:p>
            <a:pPr marL="285750" indent="-285750">
              <a:buFont typeface="Arial"/>
              <a:buChar char="•"/>
            </a:pPr>
            <a:r>
              <a:rPr lang="en-US" sz="4800">
                <a:ea typeface="+mn-lt"/>
                <a:cs typeface="+mn-lt"/>
              </a:rPr>
              <a:t>SQL database design</a:t>
            </a:r>
            <a:endParaRPr lang="en-US" sz="4800">
              <a:ea typeface="Calibri"/>
              <a:cs typeface="Calibri"/>
            </a:endParaRPr>
          </a:p>
          <a:p>
            <a:pPr marL="285750" indent="-285750">
              <a:buFont typeface="Arial"/>
              <a:buChar char="•"/>
            </a:pPr>
            <a:r>
              <a:rPr lang="en-US" sz="4800" dirty="0">
                <a:ea typeface="+mn-lt"/>
                <a:cs typeface="+mn-lt"/>
              </a:rPr>
              <a:t>Appium mobile automation</a:t>
            </a:r>
            <a:endParaRPr lang="en-US" sz="4800" dirty="0">
              <a:ea typeface="Calibri"/>
              <a:cs typeface="Calibri"/>
            </a:endParaRPr>
          </a:p>
          <a:p>
            <a:pPr marL="285750" indent="-285750">
              <a:buFont typeface="Arial"/>
              <a:buChar char="•"/>
            </a:pPr>
            <a:r>
              <a:rPr lang="en-US" sz="4800" dirty="0">
                <a:ea typeface="+mn-lt"/>
                <a:cs typeface="+mn-lt"/>
              </a:rPr>
              <a:t>Git best practices</a:t>
            </a:r>
            <a:endParaRPr lang="en-US" sz="4800" dirty="0">
              <a:ea typeface="Calibri"/>
              <a:cs typeface="Calibri"/>
            </a:endParaRPr>
          </a:p>
          <a:p>
            <a:pPr marL="285750" indent="-285750">
              <a:buFont typeface="Arial"/>
              <a:buChar char="•"/>
            </a:pPr>
            <a:r>
              <a:rPr lang="en-US" sz="4800" dirty="0">
                <a:ea typeface="+mn-lt"/>
                <a:cs typeface="+mn-lt"/>
              </a:rPr>
              <a:t>Debugging real-time issues</a:t>
            </a:r>
            <a:endParaRPr lang="en-US" sz="4800" dirty="0"/>
          </a:p>
          <a:p>
            <a:pPr algn="l"/>
            <a:endParaRPr lang="en-US" dirty="0">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pic>
        <p:nvPicPr>
          <p:cNvPr id="12" name="Picture 11" descr="A screenshot of a computer screen&#10;&#10;AI-generated content may be incorrect.">
            <a:extLst>
              <a:ext uri="{FF2B5EF4-FFF2-40B4-BE49-F238E27FC236}">
                <a16:creationId xmlns:a16="http://schemas.microsoft.com/office/drawing/2014/main" id="{ECBE374B-3CB0-5DF2-EC23-2FD9D177C8DE}"/>
              </a:ext>
            </a:extLst>
          </p:cNvPr>
          <p:cNvPicPr>
            <a:picLocks noChangeAspect="1"/>
          </p:cNvPicPr>
          <p:nvPr/>
        </p:nvPicPr>
        <p:blipFill>
          <a:blip r:embed="rId2"/>
          <a:stretch>
            <a:fillRect/>
          </a:stretch>
        </p:blipFill>
        <p:spPr>
          <a:xfrm>
            <a:off x="0" y="1123626"/>
            <a:ext cx="9473340" cy="6780509"/>
          </a:xfrm>
          <a:prstGeom prst="rect">
            <a:avLst/>
          </a:prstGeom>
        </p:spPr>
      </p:pic>
      <p:pic>
        <p:nvPicPr>
          <p:cNvPr id="21" name="Picture 20" descr="A screenshot of a computer&#10;&#10;AI-generated content may be incorrect.">
            <a:extLst>
              <a:ext uri="{FF2B5EF4-FFF2-40B4-BE49-F238E27FC236}">
                <a16:creationId xmlns:a16="http://schemas.microsoft.com/office/drawing/2014/main" id="{B0287421-06DE-E118-2C4E-66386BC109EA}"/>
              </a:ext>
            </a:extLst>
          </p:cNvPr>
          <p:cNvPicPr>
            <a:picLocks noChangeAspect="1"/>
          </p:cNvPicPr>
          <p:nvPr/>
        </p:nvPicPr>
        <p:blipFill>
          <a:blip r:embed="rId3"/>
          <a:stretch>
            <a:fillRect/>
          </a:stretch>
        </p:blipFill>
        <p:spPr>
          <a:xfrm>
            <a:off x="9474469" y="1114747"/>
            <a:ext cx="8579927" cy="67982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28D495DC-1688-F693-3A6C-B64AAD8B3069}"/>
              </a:ext>
            </a:extLst>
          </p:cNvPr>
          <p:cNvPicPr>
            <a:picLocks noChangeAspect="1"/>
          </p:cNvPicPr>
          <p:nvPr/>
        </p:nvPicPr>
        <p:blipFill>
          <a:blip r:embed="rId2"/>
          <a:stretch>
            <a:fillRect/>
          </a:stretch>
        </p:blipFill>
        <p:spPr>
          <a:xfrm>
            <a:off x="176213" y="1004887"/>
            <a:ext cx="17935575" cy="82772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TextBox 2"/>
          <p:cNvSpPr txBox="1"/>
          <p:nvPr/>
        </p:nvSpPr>
        <p:spPr>
          <a:xfrm>
            <a:off x="346017" y="647709"/>
            <a:ext cx="14423006" cy="1116331"/>
          </a:xfrm>
          <a:prstGeom prst="rect">
            <a:avLst/>
          </a:prstGeom>
        </p:spPr>
        <p:txBody>
          <a:bodyPr lIns="0" tIns="0" rIns="0" bIns="0" rtlCol="0" anchor="t">
            <a:spAutoFit/>
          </a:bodyPr>
          <a:lstStyle/>
          <a:p>
            <a:pPr algn="just">
              <a:lnSpc>
                <a:spcPts val="6960"/>
              </a:lnSpc>
            </a:pPr>
            <a:r>
              <a:rPr lang="en-US" sz="8000" u="sng" spc="48">
                <a:solidFill>
                  <a:srgbClr val="0E4714"/>
                </a:solidFill>
                <a:latin typeface="Times New Roman Condensed"/>
                <a:ea typeface="Times New Roman Condensed"/>
                <a:cs typeface="Times New Roman Condensed"/>
                <a:sym typeface="Times New Roman Condensed"/>
              </a:rPr>
              <a:t>Conclusion:</a:t>
            </a:r>
          </a:p>
        </p:txBody>
      </p:sp>
      <p:sp>
        <p:nvSpPr>
          <p:cNvPr id="3" name="TextBox 3"/>
          <p:cNvSpPr txBox="1"/>
          <p:nvPr/>
        </p:nvSpPr>
        <p:spPr>
          <a:xfrm>
            <a:off x="346017" y="2937933"/>
            <a:ext cx="16359238" cy="4409412"/>
          </a:xfrm>
          <a:prstGeom prst="rect">
            <a:avLst/>
          </a:prstGeom>
        </p:spPr>
        <p:txBody>
          <a:bodyPr lIns="0" tIns="0" rIns="0" bIns="0" rtlCol="0" anchor="t">
            <a:spAutoFit/>
          </a:bodyPr>
          <a:lstStyle/>
          <a:p>
            <a:pPr marL="285750" indent="-285750" algn="just">
              <a:buFont typeface="Arial"/>
              <a:buChar char="•"/>
            </a:pPr>
            <a:r>
              <a:rPr lang="en-US" sz="4050">
                <a:solidFill>
                  <a:srgbClr val="000000"/>
                </a:solidFill>
                <a:ea typeface="+mn-lt"/>
                <a:cs typeface="+mn-lt"/>
                <a:sym typeface="Times New Roman"/>
              </a:rPr>
              <a:t>Demonstrated an end-to-end QA + Automation + Development + DevOps workflow</a:t>
            </a:r>
            <a:endParaRPr lang="en-US">
              <a:sym typeface="Times New Roman"/>
            </a:endParaRPr>
          </a:p>
          <a:p>
            <a:pPr marL="285750" indent="-285750" algn="just">
              <a:buFont typeface="Arial"/>
              <a:buChar char="•"/>
            </a:pPr>
            <a:r>
              <a:rPr lang="en-US" sz="4050" dirty="0">
                <a:solidFill>
                  <a:srgbClr val="000000"/>
                </a:solidFill>
                <a:ea typeface="+mn-lt"/>
                <a:cs typeface="+mn-lt"/>
                <a:sym typeface="Times New Roman"/>
              </a:rPr>
              <a:t>Built scalable frameworks</a:t>
            </a:r>
            <a:endParaRPr lang="en-US" dirty="0">
              <a:sym typeface="Times New Roman"/>
            </a:endParaRPr>
          </a:p>
          <a:p>
            <a:pPr marL="285750" indent="-285750" algn="just">
              <a:buFont typeface="Arial"/>
              <a:buChar char="•"/>
            </a:pPr>
            <a:r>
              <a:rPr lang="en-US" sz="4050" dirty="0">
                <a:solidFill>
                  <a:srgbClr val="000000"/>
                </a:solidFill>
                <a:ea typeface="+mn-lt"/>
                <a:cs typeface="+mn-lt"/>
                <a:sym typeface="Times New Roman"/>
              </a:rPr>
              <a:t>Executed automation on web + mobile</a:t>
            </a:r>
            <a:endParaRPr lang="en-US" dirty="0">
              <a:sym typeface="Times New Roman"/>
            </a:endParaRPr>
          </a:p>
          <a:p>
            <a:pPr marL="285750" indent="-285750" algn="just">
              <a:buFont typeface="Arial"/>
              <a:buChar char="•"/>
            </a:pPr>
            <a:r>
              <a:rPr lang="en-US" sz="4050" dirty="0">
                <a:solidFill>
                  <a:srgbClr val="000000"/>
                </a:solidFill>
                <a:ea typeface="+mn-lt"/>
                <a:cs typeface="+mn-lt"/>
                <a:sym typeface="Times New Roman"/>
              </a:rPr>
              <a:t>Integrated database + OOP application</a:t>
            </a:r>
            <a:endParaRPr lang="en-US" dirty="0">
              <a:sym typeface="Times New Roman"/>
            </a:endParaRPr>
          </a:p>
          <a:p>
            <a:pPr marL="285750" indent="-285750" algn="just">
              <a:buFont typeface="Arial"/>
              <a:buChar char="•"/>
            </a:pPr>
            <a:r>
              <a:rPr lang="en-US" sz="4050" dirty="0">
                <a:solidFill>
                  <a:srgbClr val="000000"/>
                </a:solidFill>
                <a:ea typeface="+mn-lt"/>
                <a:cs typeface="+mn-lt"/>
                <a:sym typeface="Times New Roman"/>
              </a:rPr>
              <a:t>Implemented CI/CD pipeline with GitHub Actions</a:t>
            </a:r>
            <a:endParaRPr lang="en-US" dirty="0">
              <a:sym typeface="Times New Roman"/>
            </a:endParaRPr>
          </a:p>
          <a:p>
            <a:pPr algn="just">
              <a:lnSpc>
                <a:spcPts val="5680"/>
              </a:lnSpc>
              <a:spcBef>
                <a:spcPct val="0"/>
              </a:spcBef>
            </a:pPr>
            <a:endParaRPr lang="en-US" sz="4050" dirty="0">
              <a:solidFill>
                <a:srgbClr val="000000"/>
              </a:solidFill>
              <a:latin typeface="Times New Roman"/>
              <a:ea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Freeform 2"/>
          <p:cNvSpPr/>
          <p:nvPr/>
        </p:nvSpPr>
        <p:spPr>
          <a:xfrm>
            <a:off x="4490515" y="-2377820"/>
            <a:ext cx="19285436" cy="15042640"/>
          </a:xfrm>
          <a:custGeom>
            <a:avLst/>
            <a:gdLst/>
            <a:ahLst/>
            <a:cxnLst/>
            <a:rect l="l" t="t" r="r" b="b"/>
            <a:pathLst>
              <a:path w="19285436" h="15042640">
                <a:moveTo>
                  <a:pt x="0" y="0"/>
                </a:moveTo>
                <a:lnTo>
                  <a:pt x="19285437" y="0"/>
                </a:lnTo>
                <a:lnTo>
                  <a:pt x="19285437" y="15042640"/>
                </a:lnTo>
                <a:lnTo>
                  <a:pt x="0" y="150426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819150" y="2700805"/>
            <a:ext cx="16440150" cy="3444776"/>
          </a:xfrm>
          <a:prstGeom prst="rect">
            <a:avLst/>
          </a:prstGeom>
        </p:spPr>
        <p:txBody>
          <a:bodyPr lIns="0" tIns="0" rIns="0" bIns="0" rtlCol="0" anchor="t">
            <a:spAutoFit/>
          </a:bodyPr>
          <a:lstStyle/>
          <a:p>
            <a:pPr algn="l">
              <a:lnSpc>
                <a:spcPts val="25368"/>
              </a:lnSpc>
              <a:spcBef>
                <a:spcPct val="0"/>
              </a:spcBef>
            </a:pPr>
            <a:r>
              <a:rPr lang="en-US" sz="18120" i="1" spc="-906">
                <a:solidFill>
                  <a:srgbClr val="0E4714"/>
                </a:solidFill>
                <a:latin typeface="Times New Roman Condensed Italics"/>
                <a:ea typeface="Times New Roman Condensed Italics"/>
                <a:cs typeface="Times New Roman Condensed Italics"/>
                <a:sym typeface="Times New Roman Condense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PPT</dc:title>
  <cp:revision>366</cp:revision>
  <dcterms:created xsi:type="dcterms:W3CDTF">2006-08-16T00:00:00Z</dcterms:created>
  <dcterms:modified xsi:type="dcterms:W3CDTF">2025-11-15T12:26:34Z</dcterms:modified>
  <dc:identifier>DAGYxRt5ExE</dc:identifier>
</cp:coreProperties>
</file>